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8" r:id="rId2"/>
    <p:sldId id="346" r:id="rId3"/>
    <p:sldId id="304" r:id="rId4"/>
    <p:sldId id="344" r:id="rId5"/>
    <p:sldId id="314" r:id="rId6"/>
    <p:sldId id="271" r:id="rId7"/>
    <p:sldId id="272" r:id="rId8"/>
    <p:sldId id="348" r:id="rId9"/>
    <p:sldId id="306" r:id="rId10"/>
    <p:sldId id="318" r:id="rId11"/>
    <p:sldId id="331" r:id="rId12"/>
    <p:sldId id="310" r:id="rId13"/>
    <p:sldId id="332" r:id="rId14"/>
    <p:sldId id="349" r:id="rId15"/>
    <p:sldId id="350" r:id="rId16"/>
    <p:sldId id="351" r:id="rId17"/>
    <p:sldId id="257" r:id="rId18"/>
    <p:sldId id="311" r:id="rId19"/>
    <p:sldId id="354" r:id="rId20"/>
    <p:sldId id="352" r:id="rId21"/>
    <p:sldId id="353" r:id="rId22"/>
    <p:sldId id="315" r:id="rId23"/>
    <p:sldId id="313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5F5CEB-9B5D-4BED-ACBD-D9FDCC6C0C66}" v="424" dt="2024-04-24T03:17:59.089"/>
    <p1510:client id="{4314E3B0-4AB7-4CC3-82A9-007EC1EA4CB9}" v="2" dt="2024-04-24T03:18:46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6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esktop\GANTT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2800" dirty="0">
                <a:solidFill>
                  <a:schemeClr val="bg1"/>
                </a:solidFill>
              </a:rPr>
              <a:t>PROJECT SCHEDULE</a:t>
            </a:r>
          </a:p>
        </c:rich>
      </c:tx>
      <c:layout>
        <c:manualLayout>
          <c:xMode val="edge"/>
          <c:yMode val="edge"/>
          <c:x val="0.4296297572178478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205659448818899"/>
          <c:y val="0.13829965004374453"/>
          <c:w val="0.77451115485564304"/>
          <c:h val="0.86170034995625544"/>
        </c:manualLayout>
      </c:layout>
      <c:barChart>
        <c:barDir val="bar"/>
        <c:grouping val="stack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Research Paper Selection</c:v>
                </c:pt>
                <c:pt idx="1">
                  <c:v>Zero-th reeview</c:v>
                </c:pt>
                <c:pt idx="2">
                  <c:v>Base paper presentation</c:v>
                </c:pt>
                <c:pt idx="3">
                  <c:v>Literature review</c:v>
                </c:pt>
                <c:pt idx="4">
                  <c:v>Analyze Existing System</c:v>
                </c:pt>
                <c:pt idx="5">
                  <c:v>Module Identification</c:v>
                </c:pt>
                <c:pt idx="6">
                  <c:v>Algorithm Identification</c:v>
                </c:pt>
                <c:pt idx="7">
                  <c:v>System Design</c:v>
                </c:pt>
                <c:pt idx="8">
                  <c:v>Tool Study</c:v>
                </c:pt>
                <c:pt idx="9">
                  <c:v>Use case Diagram, Activity Diagram</c:v>
                </c:pt>
                <c:pt idx="10">
                  <c:v>Database Structure Design</c:v>
                </c:pt>
                <c:pt idx="11">
                  <c:v>Design User Interface</c:v>
                </c:pt>
                <c:pt idx="12">
                  <c:v> SRS Document</c:v>
                </c:pt>
                <c:pt idx="13">
                  <c:v>Data collection</c:v>
                </c:pt>
                <c:pt idx="14">
                  <c:v>Data  Preprocessing</c:v>
                </c:pt>
                <c:pt idx="15">
                  <c:v>Model development</c:v>
                </c:pt>
                <c:pt idx="16">
                  <c:v>Model testing and validation</c:v>
                </c:pt>
                <c:pt idx="17">
                  <c:v>Optimization and fine tuning</c:v>
                </c:pt>
                <c:pt idx="18">
                  <c:v>Documentation and reporting</c:v>
                </c:pt>
                <c:pt idx="19">
                  <c:v>Final review and presentation</c:v>
                </c:pt>
                <c:pt idx="20">
                  <c:v>Project Closure</c:v>
                </c:pt>
              </c:strCache>
            </c:strRef>
          </c:cat>
          <c:val>
            <c:numRef>
              <c:f>Sheet1!$B$2:$B$22</c:f>
              <c:numCache>
                <c:formatCode>mmm\-yy</c:formatCode>
                <c:ptCount val="21"/>
                <c:pt idx="0">
                  <c:v>45170</c:v>
                </c:pt>
                <c:pt idx="1">
                  <c:v>45185</c:v>
                </c:pt>
                <c:pt idx="2">
                  <c:v>45195</c:v>
                </c:pt>
                <c:pt idx="3">
                  <c:v>45204</c:v>
                </c:pt>
                <c:pt idx="4">
                  <c:v>45220</c:v>
                </c:pt>
                <c:pt idx="5">
                  <c:v>45231</c:v>
                </c:pt>
                <c:pt idx="6">
                  <c:v>45241</c:v>
                </c:pt>
                <c:pt idx="7">
                  <c:v>45241</c:v>
                </c:pt>
                <c:pt idx="8">
                  <c:v>45260</c:v>
                </c:pt>
                <c:pt idx="9">
                  <c:v>45293</c:v>
                </c:pt>
                <c:pt idx="10">
                  <c:v>45333</c:v>
                </c:pt>
                <c:pt idx="11">
                  <c:v>45348</c:v>
                </c:pt>
                <c:pt idx="12">
                  <c:v>45328</c:v>
                </c:pt>
                <c:pt idx="13">
                  <c:v>45261</c:v>
                </c:pt>
                <c:pt idx="14">
                  <c:v>45293</c:v>
                </c:pt>
                <c:pt idx="15">
                  <c:v>45339</c:v>
                </c:pt>
                <c:pt idx="16">
                  <c:v>45369</c:v>
                </c:pt>
                <c:pt idx="17">
                  <c:v>45383</c:v>
                </c:pt>
                <c:pt idx="18">
                  <c:v>45389</c:v>
                </c:pt>
                <c:pt idx="19">
                  <c:v>45400</c:v>
                </c:pt>
                <c:pt idx="20">
                  <c:v>45408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16-465C-947D-A1A4226692E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Duration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Research Paper Selection</c:v>
                </c:pt>
                <c:pt idx="1">
                  <c:v>Zero-th reeview</c:v>
                </c:pt>
                <c:pt idx="2">
                  <c:v>Base paper presentation</c:v>
                </c:pt>
                <c:pt idx="3">
                  <c:v>Literature review</c:v>
                </c:pt>
                <c:pt idx="4">
                  <c:v>Analyze Existing System</c:v>
                </c:pt>
                <c:pt idx="5">
                  <c:v>Module Identification</c:v>
                </c:pt>
                <c:pt idx="6">
                  <c:v>Algorithm Identification</c:v>
                </c:pt>
                <c:pt idx="7">
                  <c:v>System Design</c:v>
                </c:pt>
                <c:pt idx="8">
                  <c:v>Tool Study</c:v>
                </c:pt>
                <c:pt idx="9">
                  <c:v>Use case Diagram, Activity Diagram</c:v>
                </c:pt>
                <c:pt idx="10">
                  <c:v>Database Structure Design</c:v>
                </c:pt>
                <c:pt idx="11">
                  <c:v>Design User Interface</c:v>
                </c:pt>
                <c:pt idx="12">
                  <c:v> SRS Document</c:v>
                </c:pt>
                <c:pt idx="13">
                  <c:v>Data collection</c:v>
                </c:pt>
                <c:pt idx="14">
                  <c:v>Data  Preprocessing</c:v>
                </c:pt>
                <c:pt idx="15">
                  <c:v>Model development</c:v>
                </c:pt>
                <c:pt idx="16">
                  <c:v>Model testing and validation</c:v>
                </c:pt>
                <c:pt idx="17">
                  <c:v>Optimization and fine tuning</c:v>
                </c:pt>
                <c:pt idx="18">
                  <c:v>Documentation and reporting</c:v>
                </c:pt>
                <c:pt idx="19">
                  <c:v>Final review and presentation</c:v>
                </c:pt>
                <c:pt idx="20">
                  <c:v>Project Closure</c:v>
                </c:pt>
              </c:strCache>
            </c:strRef>
          </c:cat>
          <c:val>
            <c:numRef>
              <c:f>Sheet1!$D$2:$D$22</c:f>
              <c:numCache>
                <c:formatCode>#\ ?/?</c:formatCode>
                <c:ptCount val="21"/>
                <c:pt idx="0">
                  <c:v>14</c:v>
                </c:pt>
                <c:pt idx="1">
                  <c:v>9</c:v>
                </c:pt>
                <c:pt idx="2">
                  <c:v>8</c:v>
                </c:pt>
                <c:pt idx="3">
                  <c:v>15</c:v>
                </c:pt>
                <c:pt idx="4">
                  <c:v>9</c:v>
                </c:pt>
                <c:pt idx="5">
                  <c:v>9</c:v>
                </c:pt>
                <c:pt idx="6">
                  <c:v>4</c:v>
                </c:pt>
                <c:pt idx="7">
                  <c:v>18</c:v>
                </c:pt>
                <c:pt idx="8">
                  <c:v>72</c:v>
                </c:pt>
                <c:pt idx="9">
                  <c:v>3</c:v>
                </c:pt>
                <c:pt idx="10">
                  <c:v>14</c:v>
                </c:pt>
                <c:pt idx="11">
                  <c:v>8</c:v>
                </c:pt>
                <c:pt idx="12">
                  <c:v>10</c:v>
                </c:pt>
                <c:pt idx="13" formatCode="General">
                  <c:v>4</c:v>
                </c:pt>
                <c:pt idx="14" formatCode="General">
                  <c:v>8</c:v>
                </c:pt>
                <c:pt idx="15" formatCode="General">
                  <c:v>29</c:v>
                </c:pt>
                <c:pt idx="16" formatCode="General">
                  <c:v>12</c:v>
                </c:pt>
                <c:pt idx="17" formatCode="General">
                  <c:v>6</c:v>
                </c:pt>
                <c:pt idx="18" formatCode="General">
                  <c:v>10</c:v>
                </c:pt>
                <c:pt idx="19" formatCode="General">
                  <c:v>7</c:v>
                </c:pt>
                <c:pt idx="20" formatCode="General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16-465C-947D-A1A4226692E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57500559"/>
        <c:axId val="551444927"/>
      </c:barChart>
      <c:catAx>
        <c:axId val="557500559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1444927"/>
        <c:crosses val="autoZero"/>
        <c:auto val="1"/>
        <c:lblAlgn val="ctr"/>
        <c:lblOffset val="100"/>
        <c:noMultiLvlLbl val="0"/>
      </c:catAx>
      <c:valAx>
        <c:axId val="551444927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mmm\-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7500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4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0.85917</cdr:x>
      <cdr:y>0.03425</cdr:y>
    </cdr:from>
    <cdr:to>
      <cdr:x>0.88005</cdr:x>
      <cdr:y>0.06528</cdr:y>
    </cdr:to>
    <cdr:sp macro="" textlink="">
      <cdr:nvSpPr>
        <cdr:cNvPr id="2" name="Star: 5 Points 1">
          <a:extLst xmlns:a="http://schemas.openxmlformats.org/drawingml/2006/main">
            <a:ext uri="{FF2B5EF4-FFF2-40B4-BE49-F238E27FC236}">
              <a16:creationId xmlns:a16="http://schemas.microsoft.com/office/drawing/2014/main" id="{B2D1CC55-1A56-BFA2-8E1D-9594F0D9F970}"/>
            </a:ext>
          </a:extLst>
        </cdr:cNvPr>
        <cdr:cNvSpPr/>
      </cdr:nvSpPr>
      <cdr:spPr>
        <a:xfrm xmlns:a="http://schemas.openxmlformats.org/drawingml/2006/main">
          <a:off x="10475014" y="234891"/>
          <a:ext cx="254505" cy="212783"/>
        </a:xfrm>
        <a:prstGeom xmlns:a="http://schemas.openxmlformats.org/drawingml/2006/main" prst="star5">
          <a:avLst/>
        </a:prstGeom>
        <a:solidFill xmlns:a="http://schemas.openxmlformats.org/drawingml/2006/main">
          <a:schemeClr val="accent6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/>
        </a:p>
      </cdr:txBody>
    </cdr:sp>
  </cdr:relSizeAnchor>
</c:userShape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09T04:28:33.3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1662 4075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92813-C63C-46FC-B99E-0CC4AA67C165}" type="datetimeFigureOut">
              <a:t>4/24/2024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FEE43-246D-488B-89CF-F45990DAA8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8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10BDA2-7BAB-763A-BC7E-E18DC72162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232ECC-2BC2-E9F1-4B55-0BBFACDDC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7666" y="1759339"/>
            <a:ext cx="9716277" cy="1832750"/>
          </a:xfrm>
        </p:spPr>
        <p:txBody>
          <a:bodyPr>
            <a:norm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Aptos Display" panose="020B0004020202020204" pitchFamily="34" charset="0"/>
              </a:rPr>
              <a:t>LUNG CARE AI</a:t>
            </a:r>
            <a:endParaRPr lang="en-IN" sz="11500" b="1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892039-621D-4945-5A85-96C0E1857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8318" y="4269371"/>
            <a:ext cx="2846032" cy="2387599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Submitted By: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     </a:t>
            </a:r>
            <a:r>
              <a:rPr lang="en-US" sz="2000" b="1" dirty="0">
                <a:solidFill>
                  <a:schemeClr val="bg1"/>
                </a:solidFill>
              </a:rPr>
              <a:t>Allan T Jose</a:t>
            </a:r>
          </a:p>
          <a:p>
            <a:pPr algn="l"/>
            <a:r>
              <a:rPr lang="en-US" sz="2000" b="1" dirty="0">
                <a:solidFill>
                  <a:schemeClr val="bg1"/>
                </a:solidFill>
              </a:rPr>
              <a:t>     </a:t>
            </a:r>
            <a:r>
              <a:rPr lang="en-US" sz="2000" b="1" dirty="0" err="1">
                <a:solidFill>
                  <a:schemeClr val="bg1"/>
                </a:solidFill>
              </a:rPr>
              <a:t>Emmanuvel</a:t>
            </a:r>
            <a:r>
              <a:rPr lang="en-US" sz="2000" b="1" dirty="0">
                <a:solidFill>
                  <a:schemeClr val="bg1"/>
                </a:solidFill>
              </a:rPr>
              <a:t> Jose</a:t>
            </a:r>
          </a:p>
          <a:p>
            <a:pPr algn="l"/>
            <a:r>
              <a:rPr lang="en-US" sz="2000" b="1" dirty="0">
                <a:solidFill>
                  <a:schemeClr val="bg1"/>
                </a:solidFill>
              </a:rPr>
              <a:t>     Arun </a:t>
            </a:r>
            <a:r>
              <a:rPr lang="en-US" sz="2000" b="1" dirty="0" err="1">
                <a:solidFill>
                  <a:schemeClr val="bg1"/>
                </a:solidFill>
              </a:rPr>
              <a:t>Jibi</a:t>
            </a:r>
            <a:endParaRPr lang="en-US" sz="2000" b="1" dirty="0">
              <a:solidFill>
                <a:schemeClr val="bg1"/>
              </a:solidFill>
            </a:endParaRPr>
          </a:p>
          <a:p>
            <a:pPr algn="l"/>
            <a:r>
              <a:rPr lang="en-US" sz="2000" b="1" dirty="0">
                <a:solidFill>
                  <a:schemeClr val="bg1"/>
                </a:solidFill>
              </a:rPr>
              <a:t>     Adarsh Jin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7807DC5-AB9F-646F-8C96-560CF46CE7F6}"/>
              </a:ext>
            </a:extLst>
          </p:cNvPr>
          <p:cNvSpPr txBox="1">
            <a:spLocks/>
          </p:cNvSpPr>
          <p:nvPr/>
        </p:nvSpPr>
        <p:spPr>
          <a:xfrm>
            <a:off x="329683" y="4269371"/>
            <a:ext cx="2957803" cy="2387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Under the Guidance of:</a:t>
            </a:r>
          </a:p>
          <a:p>
            <a:pPr algn="l"/>
            <a:r>
              <a:rPr lang="en-US" sz="2000" b="1" dirty="0">
                <a:solidFill>
                  <a:schemeClr val="bg1"/>
                </a:solidFill>
              </a:rPr>
              <a:t>   </a:t>
            </a:r>
            <a:r>
              <a:rPr lang="en-US" b="1" dirty="0">
                <a:solidFill>
                  <a:schemeClr val="bg1"/>
                </a:solidFill>
              </a:rPr>
              <a:t>Dr. Sarika S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   </a:t>
            </a:r>
            <a:r>
              <a:rPr lang="en-US" sz="2000" dirty="0" err="1">
                <a:solidFill>
                  <a:schemeClr val="bg1"/>
                </a:solidFill>
              </a:rPr>
              <a:t>Asso</a:t>
            </a:r>
            <a:r>
              <a:rPr lang="en-US" sz="2000" dirty="0">
                <a:solidFill>
                  <a:schemeClr val="bg1"/>
                </a:solidFill>
              </a:rPr>
              <a:t>. Prof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</a:rPr>
              <a:t>   Dept of CSE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35E4DC7-055C-944A-D38A-ADB9326AC151}"/>
                  </a:ext>
                </a:extLst>
              </p14:cNvPr>
              <p14:cNvContentPartPr/>
              <p14:nvPr/>
            </p14:nvContentPartPr>
            <p14:xfrm>
              <a:off x="-478630" y="1726406"/>
              <a:ext cx="11906" cy="11906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35E4DC7-055C-944A-D38A-ADB9326AC1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073930" y="1131106"/>
                <a:ext cx="1190600" cy="11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510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D3D76F-2614-DC23-E23E-E49D8C41D2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58" t="-1" r="-1" b="-4625"/>
          <a:stretch/>
        </p:blipFill>
        <p:spPr>
          <a:xfrm rot="10800000">
            <a:off x="-1" y="-317240"/>
            <a:ext cx="3771901" cy="717524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E9DA8A4-0B14-9040-FAFC-07FC2DA4F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1" y="872185"/>
            <a:ext cx="8143874" cy="582389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b="1" dirty="0">
                <a:solidFill>
                  <a:srgbClr val="002060"/>
                </a:solidFill>
              </a:rPr>
              <a:t>1.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Introduction</a:t>
            </a:r>
          </a:p>
          <a:p>
            <a:pPr algn="l"/>
            <a:endParaRPr lang="en-US" dirty="0">
              <a:solidFill>
                <a:srgbClr val="000000"/>
              </a:solidFill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  <a:ea typeface="+mn-lt"/>
                <a:cs typeface="+mn-lt"/>
              </a:rPr>
              <a:t>2.</a:t>
            </a:r>
            <a:r>
              <a:rPr lang="en-US" b="1" dirty="0">
                <a:solidFill>
                  <a:srgbClr val="002060"/>
                </a:solidFill>
              </a:rPr>
              <a:t> </a:t>
            </a:r>
            <a:r>
              <a:rPr lang="en-US" dirty="0">
                <a:solidFill>
                  <a:srgbClr val="000000"/>
                </a:solidFill>
              </a:rPr>
              <a:t>Objectives</a:t>
            </a:r>
            <a:endParaRPr lang="en-US" dirty="0"/>
          </a:p>
          <a:p>
            <a:pPr algn="l"/>
            <a:endParaRPr lang="en-US" dirty="0">
              <a:solidFill>
                <a:srgbClr val="000000"/>
              </a:solidFill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3. </a:t>
            </a:r>
            <a:r>
              <a:rPr lang="en-US" dirty="0"/>
              <a:t>Problem Statement</a:t>
            </a:r>
          </a:p>
          <a:p>
            <a:pPr algn="l"/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  <a:p>
            <a:pPr algn="l"/>
            <a:r>
              <a:rPr lang="en-US" dirty="0">
                <a:solidFill>
                  <a:srgbClr val="000000"/>
                </a:solidFill>
                <a:ea typeface="Calibri"/>
                <a:cs typeface="Calibri"/>
              </a:rPr>
              <a:t>    </a:t>
            </a:r>
            <a:r>
              <a:rPr lang="en-US" b="1" dirty="0">
                <a:solidFill>
                  <a:srgbClr val="000000"/>
                </a:solidFill>
                <a:ea typeface="Calibri"/>
                <a:cs typeface="Calibri"/>
              </a:rPr>
              <a:t>LITERATURE SURVEY</a:t>
            </a:r>
          </a:p>
          <a:p>
            <a:pPr algn="l"/>
            <a:endParaRPr lang="en-US" dirty="0">
              <a:solidFill>
                <a:srgbClr val="000000"/>
              </a:solidFill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4</a:t>
            </a:r>
            <a:r>
              <a:rPr lang="en-US" dirty="0"/>
              <a:t>. CXR-Net: A Multitask Deep Learning Network for Explainable and Accurate Diagnosis of COVID-19 Pneumonia From Chest X-Ray Images</a:t>
            </a:r>
          </a:p>
          <a:p>
            <a:pPr algn="l"/>
            <a:endParaRPr lang="en-US" dirty="0">
              <a:solidFill>
                <a:srgbClr val="000000"/>
              </a:solidFill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</a:rPr>
              <a:t>5. </a:t>
            </a:r>
            <a:r>
              <a:rPr lang="en-US" dirty="0"/>
              <a:t>Biomedical Image Analysis for Colon and Lung Cancer Detection Using Tuna Swarm Algorithm With Deep Learning Model</a:t>
            </a:r>
            <a:endParaRPr lang="en-IN" dirty="0"/>
          </a:p>
          <a:p>
            <a:endParaRPr lang="en-IN" b="1" u="sng" dirty="0">
              <a:solidFill>
                <a:srgbClr val="002060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IN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03C25F-9F20-CA7C-5D1A-6E0106327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85963" y="1729435"/>
            <a:ext cx="9144000" cy="80440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n-lt"/>
              </a:rPr>
              <a:t>CONTENTS</a:t>
            </a:r>
            <a:endParaRPr lang="en-IN" sz="4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000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D3D76F-2614-DC23-E23E-E49D8C41D2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58" t="-1" r="-1" b="-4625"/>
          <a:stretch/>
        </p:blipFill>
        <p:spPr>
          <a:xfrm rot="10800000">
            <a:off x="-3" y="-317240"/>
            <a:ext cx="3771903" cy="71752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C787AB-9730-78BB-E25A-C715D0CEC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85963" y="1729435"/>
            <a:ext cx="9144000" cy="80440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n-lt"/>
              </a:rPr>
              <a:t>CONTENTS</a:t>
            </a:r>
            <a:endParaRPr lang="en-IN" sz="48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DA8A4-0B14-9040-FAFC-07FC2DA4F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2636" y="236841"/>
            <a:ext cx="8143874" cy="6409033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b="1" dirty="0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</a:rPr>
              <a:t>6. 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 panose="020F0502020204030204"/>
                <a:cs typeface="Calibri" panose="020F0502020204030204"/>
              </a:rPr>
              <a:t>Stochastic Learning-Based Artificial Neural Network     Model for an Automatic Tuberculosis Detection System Using Chest X-Ray Images</a:t>
            </a:r>
          </a:p>
          <a:p>
            <a:pPr algn="l"/>
            <a:endParaRPr lang="en-US" b="1" dirty="0">
              <a:solidFill>
                <a:srgbClr val="002060"/>
              </a:solidFill>
              <a:ea typeface="Calibri" panose="020F0502020204030204"/>
              <a:cs typeface="Calibri" panose="020F0502020204030204"/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</a:rPr>
              <a:t>7. </a:t>
            </a:r>
            <a:r>
              <a:rPr lang="en-US" dirty="0">
                <a:solidFill>
                  <a:srgbClr val="000000"/>
                </a:solidFill>
                <a:latin typeface="Calibri"/>
                <a:ea typeface="Calibri" panose="020F0502020204030204"/>
                <a:cs typeface="Calibri" panose="020F0502020204030204"/>
              </a:rPr>
              <a:t>Knowledge-based Collaborative Deep Learning for Benign-Malignant Lung Nodule Classification on Chest CT</a:t>
            </a:r>
            <a:r>
              <a:rPr lang="en-US" dirty="0">
                <a:solidFill>
                  <a:srgbClr val="000000"/>
                </a:solidFill>
                <a:ea typeface="Calibri" panose="020F0502020204030204"/>
                <a:cs typeface="Calibri" panose="020F0502020204030204"/>
              </a:rPr>
              <a:t> 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Network</a:t>
            </a:r>
          </a:p>
          <a:p>
            <a:pPr algn="l"/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algn="l"/>
            <a:r>
              <a:rPr lang="en-US" b="1" dirty="0">
                <a:solidFill>
                  <a:srgbClr val="002060"/>
                </a:solidFill>
                <a:ea typeface="Calibri" panose="020F0502020204030204"/>
                <a:cs typeface="Calibri" panose="020F0502020204030204"/>
              </a:rPr>
              <a:t>8. </a:t>
            </a:r>
            <a:r>
              <a:rPr lang="en-IN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CDC_Net</a:t>
            </a:r>
            <a:r>
              <a:rPr lang="en-IN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 multiclassification convolutional </a:t>
            </a:r>
            <a:r>
              <a:rPr lang="en-IN" dirty="0">
                <a:solidFill>
                  <a:srgbClr val="000000"/>
                </a:solidFill>
                <a:latin typeface="Calibri"/>
                <a:ea typeface="Calibri Light"/>
                <a:cs typeface="Calibri"/>
              </a:rPr>
              <a:t>Neural Network model for detection of COVID-19, pneumothorax, pneumonia, lung Cancer and tuberculosis using chest X-rays</a:t>
            </a:r>
            <a:endParaRPr lang="en-US" dirty="0">
              <a:solidFill>
                <a:srgbClr val="000000"/>
              </a:solidFill>
              <a:latin typeface="Calibri"/>
              <a:ea typeface="Calibri Light"/>
              <a:cs typeface="Calibri Light"/>
            </a:endParaRPr>
          </a:p>
          <a:p>
            <a:pPr algn="l"/>
            <a:endParaRPr lang="en-GB" dirty="0">
              <a:solidFill>
                <a:srgbClr val="000000"/>
              </a:solidFill>
              <a:latin typeface="Calibri"/>
              <a:ea typeface="Calibri Light"/>
              <a:cs typeface="Calibri Light"/>
            </a:endParaRPr>
          </a:p>
          <a:p>
            <a:pPr algn="l"/>
            <a:r>
              <a:rPr lang="en-GB" b="1" dirty="0">
                <a:solidFill>
                  <a:srgbClr val="002060"/>
                </a:solidFill>
                <a:latin typeface="Calibri"/>
                <a:ea typeface="Calibri Light"/>
                <a:cs typeface="Calibri Light"/>
              </a:rPr>
              <a:t>9.  </a:t>
            </a:r>
            <a:r>
              <a:rPr lang="en-IN" dirty="0">
                <a:latin typeface="Calibri"/>
                <a:ea typeface="Calibri Light"/>
                <a:cs typeface="Calibri"/>
              </a:rPr>
              <a:t>Automated diagnosis of COVID-19 with limited posteroanterior chest X-ray images using fine-tuned deep neural networks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endParaRPr lang="en-US" dirty="0">
              <a:solidFill>
                <a:srgbClr val="000000"/>
              </a:solidFill>
              <a:latin typeface="Calibri"/>
              <a:ea typeface="Calibri Light"/>
              <a:cs typeface="Calibri Light"/>
            </a:endParaRPr>
          </a:p>
          <a:p>
            <a:pPr algn="l"/>
            <a:endParaRPr lang="en-IN" b="1" u="sng" dirty="0">
              <a:solidFill>
                <a:srgbClr val="00206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l"/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algn="l"/>
            <a:endParaRPr lang="en-IN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789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D3D76F-2614-DC23-E23E-E49D8C41D2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58" t="-1" r="-1" b="-4625"/>
          <a:stretch/>
        </p:blipFill>
        <p:spPr>
          <a:xfrm rot="10800000">
            <a:off x="-1" y="-317240"/>
            <a:ext cx="3771901" cy="717524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E9DA8A4-0B14-9040-FAFC-07FC2DA4F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1" y="872185"/>
            <a:ext cx="8143874" cy="582389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IN" dirty="0">
                <a:latin typeface="Calibri"/>
              </a:rPr>
              <a:t>     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ea typeface="Calibri"/>
                <a:cs typeface="Calibri"/>
              </a:rPr>
              <a:t>        PROPOSED MODEL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ea typeface="Calibri"/>
                <a:cs typeface="Calibri"/>
              </a:rPr>
              <a:t>10. </a:t>
            </a:r>
            <a:r>
              <a:rPr lang="en-IN" dirty="0">
                <a:latin typeface="Calibri"/>
                <a:ea typeface="Calibri"/>
                <a:cs typeface="Calibri"/>
              </a:rPr>
              <a:t> Architecture</a:t>
            </a:r>
            <a:endParaRPr lang="en-IN" dirty="0"/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ea typeface="Calibri"/>
                <a:cs typeface="Calibri"/>
              </a:rPr>
              <a:t>11. </a:t>
            </a:r>
            <a:r>
              <a:rPr lang="en-IN" dirty="0">
                <a:latin typeface="Calibri"/>
                <a:ea typeface="Calibri"/>
                <a:cs typeface="Calibri"/>
              </a:rPr>
              <a:t> Module Description</a:t>
            </a:r>
            <a:endParaRPr lang="en-IN" dirty="0">
              <a:ea typeface="Calibri"/>
              <a:cs typeface="Calibri"/>
            </a:endParaRPr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cs typeface="Calibri"/>
              </a:rPr>
              <a:t>12. </a:t>
            </a:r>
            <a:r>
              <a:rPr lang="en-IN" dirty="0">
                <a:latin typeface="Calibri"/>
                <a:cs typeface="Calibri"/>
              </a:rPr>
              <a:t>Implementation</a:t>
            </a:r>
            <a:endParaRPr lang="en-IN" dirty="0"/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ea typeface="Calibri"/>
                <a:cs typeface="Calibri"/>
              </a:rPr>
              <a:t>13.</a:t>
            </a:r>
            <a:r>
              <a:rPr lang="en-IN" dirty="0">
                <a:latin typeface="Calibri"/>
                <a:ea typeface="Calibri"/>
                <a:cs typeface="Calibri"/>
              </a:rPr>
              <a:t>  Conclusion</a:t>
            </a:r>
            <a:r>
              <a:rPr lang="en-US" dirty="0">
                <a:latin typeface="Calibri"/>
                <a:ea typeface="Calibri"/>
                <a:cs typeface="Calibri"/>
              </a:rPr>
              <a:t> </a:t>
            </a:r>
          </a:p>
          <a:p>
            <a:pPr algn="l"/>
            <a:endParaRPr lang="en-US">
              <a:latin typeface="Calibri"/>
              <a:ea typeface="Calibri"/>
              <a:cs typeface="Calibri"/>
            </a:endParaRPr>
          </a:p>
          <a:p>
            <a:pPr algn="l"/>
            <a:r>
              <a:rPr lang="en-IN" b="1" dirty="0">
                <a:latin typeface="Calibri"/>
                <a:ea typeface="Calibri"/>
                <a:cs typeface="Calibri"/>
              </a:rPr>
              <a:t>14. </a:t>
            </a:r>
            <a:r>
              <a:rPr lang="en-IN" dirty="0">
                <a:latin typeface="Calibri"/>
                <a:ea typeface="Calibri"/>
                <a:cs typeface="Calibri"/>
              </a:rPr>
              <a:t> References</a:t>
            </a:r>
          </a:p>
          <a:p>
            <a:pPr algn="l"/>
            <a:endParaRPr lang="en-IN" dirty="0">
              <a:latin typeface="Calibri"/>
              <a:ea typeface="Calibri"/>
              <a:cs typeface="Calibri"/>
            </a:endParaRPr>
          </a:p>
          <a:p>
            <a:pPr algn="l"/>
            <a:endParaRPr lang="en-IN" dirty="0">
              <a:ea typeface="+mn-lt"/>
              <a:cs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03C25F-9F20-CA7C-5D1A-6E0106327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961017" y="1863300"/>
            <a:ext cx="9144000" cy="80440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n-lt"/>
              </a:rPr>
              <a:t>CONTENTS</a:t>
            </a:r>
            <a:endParaRPr lang="en-IN" sz="48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870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68657-FA05-A726-0E63-9F04EC4D13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-1120599" y="1120601"/>
            <a:ext cx="4758612" cy="25174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4EFD30-EE95-C21B-B930-B1F48EC17831}"/>
              </a:ext>
            </a:extLst>
          </p:cNvPr>
          <p:cNvSpPr txBox="1"/>
          <p:nvPr/>
        </p:nvSpPr>
        <p:spPr>
          <a:xfrm>
            <a:off x="4174011" y="1167182"/>
            <a:ext cx="989912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cs typeface="Calibri Light"/>
              </a:rPr>
              <a:t>INTRODUCTION</a:t>
            </a: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7644D-8059-331A-E8C7-D7F750EE0410}"/>
              </a:ext>
            </a:extLst>
          </p:cNvPr>
          <p:cNvSpPr txBox="1"/>
          <p:nvPr/>
        </p:nvSpPr>
        <p:spPr>
          <a:xfrm>
            <a:off x="1443873" y="2440067"/>
            <a:ext cx="9706210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200" b="1" dirty="0">
                <a:cs typeface="Calibri"/>
              </a:rPr>
              <a:t>Importance of Early Detection</a:t>
            </a:r>
            <a:endParaRPr lang="en-US" dirty="0"/>
          </a:p>
          <a:p>
            <a:pPr algn="just"/>
            <a:r>
              <a:rPr lang="en-US" sz="2200" dirty="0">
                <a:latin typeface="Arial"/>
                <a:cs typeface="Arial"/>
              </a:rPr>
              <a:t>•</a:t>
            </a:r>
            <a:r>
              <a:rPr lang="en-US" sz="2200" dirty="0">
                <a:cs typeface="Calibri"/>
              </a:rPr>
              <a:t>Timely diagnosis for improved survival rates.</a:t>
            </a:r>
            <a:endParaRPr lang="en-US" dirty="0"/>
          </a:p>
          <a:p>
            <a:pPr algn="just"/>
            <a:r>
              <a:rPr lang="en-US" sz="2200" dirty="0">
                <a:latin typeface="Arial"/>
                <a:cs typeface="Arial"/>
              </a:rPr>
              <a:t>•</a:t>
            </a:r>
            <a:r>
              <a:rPr lang="en-US" sz="2200" dirty="0">
                <a:cs typeface="Calibri"/>
              </a:rPr>
              <a:t>The current diagnostic process is resource-intensive, time-consuming, and depends on expert interpretation.</a:t>
            </a:r>
            <a:endParaRPr lang="en-US" dirty="0"/>
          </a:p>
          <a:p>
            <a:pPr algn="just"/>
            <a:endParaRPr lang="en-US" sz="2400" dirty="0">
              <a:cs typeface="Calibri"/>
            </a:endParaRPr>
          </a:p>
          <a:p>
            <a:pPr algn="just"/>
            <a:r>
              <a:rPr lang="en-US" sz="2200" b="1" dirty="0">
                <a:cs typeface="Calibri"/>
              </a:rPr>
              <a:t>Machine Learning as a Solution</a:t>
            </a:r>
            <a:endParaRPr lang="en-US" dirty="0"/>
          </a:p>
          <a:p>
            <a:pPr algn="just"/>
            <a:r>
              <a:rPr lang="en-US" sz="2200" dirty="0">
                <a:latin typeface="Arial"/>
                <a:cs typeface="Arial"/>
              </a:rPr>
              <a:t>•</a:t>
            </a:r>
            <a:r>
              <a:rPr lang="en-US" sz="2200" dirty="0">
                <a:cs typeface="Calibri"/>
              </a:rPr>
              <a:t>Deep learning, offers a promising solution for enhancing Lung cancer detection.</a:t>
            </a:r>
            <a:endParaRPr lang="en-US" dirty="0"/>
          </a:p>
          <a:p>
            <a:pPr algn="just"/>
            <a:r>
              <a:rPr lang="en-US" sz="2200" dirty="0">
                <a:latin typeface="Arial"/>
                <a:cs typeface="Arial"/>
              </a:rPr>
              <a:t>•</a:t>
            </a:r>
            <a:r>
              <a:rPr lang="en-US" sz="2200" dirty="0">
                <a:cs typeface="Calibri"/>
              </a:rPr>
              <a:t>The utilization of AI in lung cancer detection represents a significant advancement in the field.</a:t>
            </a:r>
            <a:endParaRPr lang="en-US" dirty="0"/>
          </a:p>
          <a:p>
            <a:pPr algn="just"/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655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68657-FA05-A726-0E63-9F04EC4D13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-1120599" y="1120601"/>
            <a:ext cx="4758612" cy="25174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4EFD30-EE95-C21B-B930-B1F48EC17831}"/>
              </a:ext>
            </a:extLst>
          </p:cNvPr>
          <p:cNvSpPr txBox="1"/>
          <p:nvPr/>
        </p:nvSpPr>
        <p:spPr>
          <a:xfrm>
            <a:off x="3464327" y="1357682"/>
            <a:ext cx="989912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ea typeface="Calibri Light"/>
                <a:cs typeface="Calibri Light"/>
              </a:rPr>
              <a:t>PROBLEM DEFINITION</a:t>
            </a: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7644D-8059-331A-E8C7-D7F750EE0410}"/>
              </a:ext>
            </a:extLst>
          </p:cNvPr>
          <p:cNvSpPr txBox="1"/>
          <p:nvPr/>
        </p:nvSpPr>
        <p:spPr>
          <a:xfrm>
            <a:off x="1443873" y="2440067"/>
            <a:ext cx="97062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The existing challenge revolves around the complexities associated with tracking and diagnosing lung diseases.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The manual diagnostic process is often arduous and intricate.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The Lung Disease Detection System, powered by Convolutional Neural Networks (CNNs), offers a solution by streamlining and automating the diagnosis process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48591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FBA98B-E227-5E28-8E31-05EAB0C5FF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-1151361" y="1151362"/>
            <a:ext cx="4889241" cy="25865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00C3A-A8E0-2D0B-8BEF-44CF05D3966F}"/>
              </a:ext>
            </a:extLst>
          </p:cNvPr>
          <p:cNvSpPr txBox="1"/>
          <p:nvPr/>
        </p:nvSpPr>
        <p:spPr>
          <a:xfrm>
            <a:off x="1208643" y="1959397"/>
            <a:ext cx="9774714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To create an efficient and user-friendly mobile application to detect Lung Diseases, that harnesses the power of Convolutional Neural Networks (CNNs).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 To accurately identify and classify different lung disease conditions from medical images.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To enhance healthcare outcomes by enabling timely disease detection and suggesting appropriate medical interventions and treatment plans based on the identified lung conditions.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F678D-76CF-1271-B9BE-19B4F665BCEC}"/>
              </a:ext>
            </a:extLst>
          </p:cNvPr>
          <p:cNvSpPr txBox="1"/>
          <p:nvPr/>
        </p:nvSpPr>
        <p:spPr>
          <a:xfrm>
            <a:off x="4577866" y="1005762"/>
            <a:ext cx="9899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ea typeface="Calibri Light"/>
                <a:cs typeface="Calibri Light"/>
              </a:rPr>
              <a:t>OBJECTIVES</a:t>
            </a:r>
            <a:endParaRPr lang="en-IN" sz="1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34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liquid&#10;&#10;Description automatically generated">
            <a:extLst>
              <a:ext uri="{FF2B5EF4-FFF2-40B4-BE49-F238E27FC236}">
                <a16:creationId xmlns:a16="http://schemas.microsoft.com/office/drawing/2014/main" id="{7EDA4261-9B20-0B3C-0CA3-29C8518CD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911" b="-196"/>
          <a:stretch/>
        </p:blipFill>
        <p:spPr>
          <a:xfrm>
            <a:off x="339" y="2209"/>
            <a:ext cx="2651251" cy="59034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E52580-61FA-89E6-29CF-D1D7241DF08C}"/>
              </a:ext>
            </a:extLst>
          </p:cNvPr>
          <p:cNvSpPr txBox="1"/>
          <p:nvPr/>
        </p:nvSpPr>
        <p:spPr>
          <a:xfrm>
            <a:off x="2797447" y="2613753"/>
            <a:ext cx="837183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LITERATURE</a:t>
            </a:r>
            <a:endParaRPr lang="en-IN" sz="7200" b="1" dirty="0">
              <a:solidFill>
                <a:srgbClr val="002060"/>
              </a:solidFill>
            </a:endParaRPr>
          </a:p>
          <a:p>
            <a:r>
              <a:rPr lang="en-US" sz="7200" b="1" dirty="0">
                <a:solidFill>
                  <a:srgbClr val="002060"/>
                </a:solidFill>
              </a:rPr>
              <a:t>SURVEY</a:t>
            </a:r>
          </a:p>
        </p:txBody>
      </p:sp>
    </p:spTree>
    <p:extLst>
      <p:ext uri="{BB962C8B-B14F-4D97-AF65-F5344CB8AC3E}">
        <p14:creationId xmlns:p14="http://schemas.microsoft.com/office/powerpoint/2010/main" val="193005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2289E6-4AB6-73D8-2FB5-8017380EA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332179"/>
              </p:ext>
            </p:extLst>
          </p:nvPr>
        </p:nvGraphicFramePr>
        <p:xfrm>
          <a:off x="-19050" y="-19050"/>
          <a:ext cx="12207321" cy="6890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0468">
                  <a:extLst>
                    <a:ext uri="{9D8B030D-6E8A-4147-A177-3AD203B41FA5}">
                      <a16:colId xmlns:a16="http://schemas.microsoft.com/office/drawing/2014/main" val="2389355298"/>
                    </a:ext>
                  </a:extLst>
                </a:gridCol>
                <a:gridCol w="1794196">
                  <a:extLst>
                    <a:ext uri="{9D8B030D-6E8A-4147-A177-3AD203B41FA5}">
                      <a16:colId xmlns:a16="http://schemas.microsoft.com/office/drawing/2014/main" val="65512035"/>
                    </a:ext>
                  </a:extLst>
                </a:gridCol>
                <a:gridCol w="1976481">
                  <a:extLst>
                    <a:ext uri="{9D8B030D-6E8A-4147-A177-3AD203B41FA5}">
                      <a16:colId xmlns:a16="http://schemas.microsoft.com/office/drawing/2014/main" val="2458399064"/>
                    </a:ext>
                  </a:extLst>
                </a:gridCol>
                <a:gridCol w="2343088">
                  <a:extLst>
                    <a:ext uri="{9D8B030D-6E8A-4147-A177-3AD203B41FA5}">
                      <a16:colId xmlns:a16="http://schemas.microsoft.com/office/drawing/2014/main" val="474811814"/>
                    </a:ext>
                  </a:extLst>
                </a:gridCol>
                <a:gridCol w="2343088">
                  <a:extLst>
                    <a:ext uri="{9D8B030D-6E8A-4147-A177-3AD203B41FA5}">
                      <a16:colId xmlns:a16="http://schemas.microsoft.com/office/drawing/2014/main" val="3540984277"/>
                    </a:ext>
                  </a:extLst>
                </a:gridCol>
              </a:tblGrid>
              <a:tr h="686899">
                <a:tc>
                  <a:txBody>
                    <a:bodyPr/>
                    <a:lstStyle/>
                    <a:p>
                      <a:r>
                        <a:rPr lang="en-US" sz="1800" dirty="0"/>
                        <a:t>TITLE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TECHNIQUES / PROTOCOL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ADVANTAGES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DISADVANTAGES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/>
                        <a:t>AUTHOR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868088"/>
                  </a:ext>
                </a:extLst>
              </a:tr>
              <a:tr h="1490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CXR-Net: A Multitask Deep Learning Network for Explainable and Accurate Diagnosis of COVID-19 Pneumonia From Chest X-Ray Images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CNN with encoder and 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Sharper and More Precise Visualizations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Computational Complexity with Large Kernel Sizes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/>
                        <a:t>Stephen White, </a:t>
                      </a:r>
                      <a:r>
                        <a:rPr lang="en-US" sz="1800" i="1" dirty="0"/>
                        <a:t>Feb 2023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601688"/>
                  </a:ext>
                </a:extLst>
              </a:tr>
              <a:tr h="17318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Biomedical Image Analysis for Colon and Lung Cancer Detection Using Tuna Swarm Algorithm With Deep Learning Model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GhostNet</a:t>
                      </a:r>
                      <a:r>
                        <a:rPr lang="en-US" sz="1800" dirty="0"/>
                        <a:t> and </a:t>
                      </a:r>
                      <a:r>
                        <a:rPr lang="en-US" sz="1800" dirty="0" err="1"/>
                        <a:t>Ecostatic</a:t>
                      </a:r>
                      <a:r>
                        <a:rPr lang="en-US" sz="1800" dirty="0"/>
                        <a:t>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Accuracy </a:t>
                      </a:r>
                      <a:endParaRPr lang="en-US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i="0" dirty="0">
                          <a:effectLst/>
                          <a:latin typeface="Calibri"/>
                        </a:rPr>
                        <a:t>Higher Complexity</a:t>
                      </a: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Marva </a:t>
                      </a:r>
                      <a:r>
                        <a:rPr lang="en-IN" sz="1800" b="0" i="0" u="none" strike="noStrike" noProof="0" err="1">
                          <a:latin typeface="Calibri"/>
                        </a:rPr>
                        <a:t>Obayya</a:t>
                      </a:r>
                      <a:r>
                        <a:rPr lang="en-IN" sz="1800" b="0" i="0" u="none" strike="noStrike" noProof="0" dirty="0">
                          <a:latin typeface="Calibri"/>
                        </a:rPr>
                        <a:t>, </a:t>
                      </a:r>
                      <a:r>
                        <a:rPr lang="en-IN" sz="1800" b="0" i="1" u="none" strike="noStrike" noProof="0" dirty="0">
                          <a:latin typeface="Calibri"/>
                        </a:rPr>
                        <a:t>Aug 2023</a:t>
                      </a:r>
                      <a:endParaRPr lang="en-IN" sz="1800" b="0" i="1" u="none" strike="noStrike" noProof="0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33684"/>
                  </a:ext>
                </a:extLst>
              </a:tr>
              <a:tr h="176840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800" b="0" dirty="0"/>
                        <a:t>Stochastic Learning-Based Artificial Neural Network Model for an Automatic Tuberculosis Detection System Using Chest X-Ray Images</a:t>
                      </a:r>
                      <a:endParaRPr lang="en-IN" sz="1800" b="0"/>
                    </a:p>
                    <a:p>
                      <a:pPr lvl="0">
                        <a:buNone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/>
                        <a:t>Stochastic Gradient Descent 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Accuracy when compared to state-of-the-art methods.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IN" sz="1800" i="0" dirty="0">
                          <a:effectLst/>
                          <a:latin typeface="Calibri"/>
                        </a:rPr>
                        <a:t>Initialization Sensitivity</a:t>
                      </a:r>
                      <a:endParaRPr lang="en-IN" sz="1800" i="0" dirty="0">
                        <a:solidFill>
                          <a:srgbClr val="D1D5DB"/>
                        </a:solidFill>
                        <a:effectLst/>
                        <a:latin typeface="Calibri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IN" sz="1800" dirty="0">
                        <a:solidFill>
                          <a:srgbClr val="D1D5DB"/>
                        </a:solidFill>
                        <a:latin typeface="Calibri"/>
                      </a:endParaRP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IN" sz="1800" i="0" dirty="0">
                          <a:effectLst/>
                          <a:latin typeface="Calibri"/>
                        </a:rPr>
                        <a:t>Convergence and Local Minima</a:t>
                      </a:r>
                      <a:r>
                        <a:rPr lang="en-IN" sz="1800" i="0" dirty="0">
                          <a:solidFill>
                            <a:srgbClr val="D1D5DB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Shabana Urooj,</a:t>
                      </a:r>
                      <a:endParaRPr lang="en-US"/>
                    </a:p>
                    <a:p>
                      <a:pPr marL="0" lvl="0" indent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2022 Oct 5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40972"/>
                  </a:ext>
                </a:extLst>
              </a:tr>
              <a:tr h="121303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Knowledge-based Collaborative Deep Learning</a:t>
                      </a:r>
                      <a:endParaRPr lang="en-US" sz="180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for Benign-Malignant Lung Nodule</a:t>
                      </a:r>
                      <a:endParaRPr lang="en-IN" sz="1800" dirty="0"/>
                    </a:p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Classification on Chest CT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dirty="0"/>
                        <a:t>MV-KBC approach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Multi-view learning,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Collaborative Sub models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Nodule segmentation accuracy affect classification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Yutong Xie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61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20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ipple dir="rd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4562C0-6B6D-3625-EB4A-DE82D76C9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84604"/>
              </p:ext>
            </p:extLst>
          </p:nvPr>
        </p:nvGraphicFramePr>
        <p:xfrm>
          <a:off x="0" y="-23090"/>
          <a:ext cx="12190004" cy="451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3686">
                  <a:extLst>
                    <a:ext uri="{9D8B030D-6E8A-4147-A177-3AD203B41FA5}">
                      <a16:colId xmlns:a16="http://schemas.microsoft.com/office/drawing/2014/main" val="2389355298"/>
                    </a:ext>
                  </a:extLst>
                </a:gridCol>
                <a:gridCol w="1798326">
                  <a:extLst>
                    <a:ext uri="{9D8B030D-6E8A-4147-A177-3AD203B41FA5}">
                      <a16:colId xmlns:a16="http://schemas.microsoft.com/office/drawing/2014/main" val="65512035"/>
                    </a:ext>
                  </a:extLst>
                </a:gridCol>
                <a:gridCol w="1981030">
                  <a:extLst>
                    <a:ext uri="{9D8B030D-6E8A-4147-A177-3AD203B41FA5}">
                      <a16:colId xmlns:a16="http://schemas.microsoft.com/office/drawing/2014/main" val="2458399064"/>
                    </a:ext>
                  </a:extLst>
                </a:gridCol>
                <a:gridCol w="2348481">
                  <a:extLst>
                    <a:ext uri="{9D8B030D-6E8A-4147-A177-3AD203B41FA5}">
                      <a16:colId xmlns:a16="http://schemas.microsoft.com/office/drawing/2014/main" val="474811814"/>
                    </a:ext>
                  </a:extLst>
                </a:gridCol>
                <a:gridCol w="2348481">
                  <a:extLst>
                    <a:ext uri="{9D8B030D-6E8A-4147-A177-3AD203B41FA5}">
                      <a16:colId xmlns:a16="http://schemas.microsoft.com/office/drawing/2014/main" val="3540984277"/>
                    </a:ext>
                  </a:extLst>
                </a:gridCol>
              </a:tblGrid>
              <a:tr h="700943">
                <a:tc>
                  <a:txBody>
                    <a:bodyPr/>
                    <a:lstStyle/>
                    <a:p>
                      <a:r>
                        <a:rPr lang="en-US" sz="1800" dirty="0"/>
                        <a:t>TITLE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TECHNIQUES / PROTOCOL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ADVANTAGES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DISADVANTAGES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dirty="0"/>
                        <a:t>AUTHOR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868088"/>
                  </a:ext>
                </a:extLst>
              </a:tr>
              <a:tr h="222214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GB" dirty="0"/>
                        <a:t>CDC-Net: multi-classification convolutional  Neural</a:t>
                      </a:r>
                      <a:r>
                        <a:rPr lang="en-US" dirty="0"/>
                        <a:t> </a:t>
                      </a:r>
                      <a:r>
                        <a:rPr lang="en-GB" dirty="0"/>
                        <a:t>Network model for detection of COVID-19, pneumothorax, pneumonia, lung Cancer and tuberculosis using chest X-rays</a:t>
                      </a:r>
                      <a:endParaRPr lang="en-IN"/>
                    </a:p>
                    <a:p>
                      <a:pPr lvl="0" algn="l" defTabSz="914400">
                        <a:buNone/>
                        <a:tabLst/>
                        <a:defRPr/>
                      </a:pPr>
                      <a:endParaRPr lang="en-IN" sz="2000" b="1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Residual Network and Dilated convolution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Addresses resolution loss and texture pattern extraction challenges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Model Complexity and Dependency on High-Quality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 dirty="0"/>
                        <a:t>Hassaan Malik</a:t>
                      </a:r>
                      <a:endParaRPr lang="en-US"/>
                    </a:p>
                    <a:p>
                      <a:pPr marL="0" lvl="0" indent="0">
                        <a:buNone/>
                      </a:pPr>
                      <a:r>
                        <a:rPr lang="en-US" sz="1800" b="0" i="0" u="none" strike="noStrike" noProof="0" dirty="0"/>
                        <a:t>2022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601688"/>
                  </a:ext>
                </a:extLst>
              </a:tr>
              <a:tr h="159576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Automated diagnosis of COVID-19 with limited posteroanterior chest X-ray images using fine-tuned deep neural networks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Weighted Class and  Random oversampling approach Using CNN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 dirty="0">
                          <a:latin typeface="Calibri"/>
                        </a:rPr>
                        <a:t>Rapid Screening and Scalability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Limited Data and Generalization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Narinder Singh Punn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2020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33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3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and white liquid&#10;&#10;Description automatically generated">
            <a:extLst>
              <a:ext uri="{FF2B5EF4-FFF2-40B4-BE49-F238E27FC236}">
                <a16:creationId xmlns:a16="http://schemas.microsoft.com/office/drawing/2014/main" id="{7EDA4261-9B20-0B3C-0CA3-29C8518CD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700" b="-199"/>
          <a:stretch/>
        </p:blipFill>
        <p:spPr>
          <a:xfrm>
            <a:off x="339" y="2209"/>
            <a:ext cx="2514173" cy="58381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E52580-61FA-89E6-29CF-D1D7241DF08C}"/>
              </a:ext>
            </a:extLst>
          </p:cNvPr>
          <p:cNvSpPr txBox="1"/>
          <p:nvPr/>
        </p:nvSpPr>
        <p:spPr>
          <a:xfrm>
            <a:off x="2459990" y="2581096"/>
            <a:ext cx="83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PROPOSED MODEL</a:t>
            </a:r>
            <a:endParaRPr lang="en-IN" sz="7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16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7B934C-8B1F-990A-A56A-4806C378A7FE}"/>
              </a:ext>
            </a:extLst>
          </p:cNvPr>
          <p:cNvSpPr txBox="1"/>
          <p:nvPr/>
        </p:nvSpPr>
        <p:spPr>
          <a:xfrm>
            <a:off x="3971106" y="375984"/>
            <a:ext cx="4875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ARCHITECTURE</a:t>
            </a:r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761D62-11C4-FD22-2558-D0F893EA7531}"/>
              </a:ext>
            </a:extLst>
          </p:cNvPr>
          <p:cNvSpPr/>
          <p:nvPr/>
        </p:nvSpPr>
        <p:spPr>
          <a:xfrm>
            <a:off x="5819134" y="1931048"/>
            <a:ext cx="1464240" cy="6246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Login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CEC892-0428-68A5-6BF0-2BD05F1027C0}"/>
              </a:ext>
            </a:extLst>
          </p:cNvPr>
          <p:cNvSpPr/>
          <p:nvPr/>
        </p:nvSpPr>
        <p:spPr>
          <a:xfrm>
            <a:off x="7918707" y="5716535"/>
            <a:ext cx="1566300" cy="7654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Trained CNN Model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194897-5AC7-2852-85E6-83BE57541E15}"/>
              </a:ext>
            </a:extLst>
          </p:cNvPr>
          <p:cNvSpPr/>
          <p:nvPr/>
        </p:nvSpPr>
        <p:spPr>
          <a:xfrm>
            <a:off x="5819133" y="5716535"/>
            <a:ext cx="1298965" cy="4872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RESULT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9D0C0D-1280-EFCE-1EAC-E7BC53FDF908}"/>
              </a:ext>
            </a:extLst>
          </p:cNvPr>
          <p:cNvSpPr/>
          <p:nvPr/>
        </p:nvSpPr>
        <p:spPr>
          <a:xfrm>
            <a:off x="2498878" y="1984943"/>
            <a:ext cx="1464239" cy="624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Doctor Login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0DE8C-05BA-648D-137E-942923F02B53}"/>
              </a:ext>
            </a:extLst>
          </p:cNvPr>
          <p:cNvSpPr/>
          <p:nvPr/>
        </p:nvSpPr>
        <p:spPr>
          <a:xfrm>
            <a:off x="4321452" y="3996473"/>
            <a:ext cx="1777963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Booking and Consulting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957A1-5BB4-34F5-281C-A32F7A3B535F}"/>
              </a:ext>
            </a:extLst>
          </p:cNvPr>
          <p:cNvSpPr/>
          <p:nvPr/>
        </p:nvSpPr>
        <p:spPr>
          <a:xfrm>
            <a:off x="7851714" y="3405576"/>
            <a:ext cx="1609725" cy="487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Medical Image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6184BA-814E-4F69-AA8B-4E56FB95B5D7}"/>
              </a:ext>
            </a:extLst>
          </p:cNvPr>
          <p:cNvCxnSpPr>
            <a:cxnSpLocks/>
          </p:cNvCxnSpPr>
          <p:nvPr/>
        </p:nvCxnSpPr>
        <p:spPr>
          <a:xfrm>
            <a:off x="8689842" y="5032167"/>
            <a:ext cx="0" cy="6843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0A2131-F38C-642B-1727-811C52E20AD5}"/>
              </a:ext>
            </a:extLst>
          </p:cNvPr>
          <p:cNvCxnSpPr>
            <a:cxnSpLocks/>
          </p:cNvCxnSpPr>
          <p:nvPr/>
        </p:nvCxnSpPr>
        <p:spPr>
          <a:xfrm>
            <a:off x="7106913" y="2808154"/>
            <a:ext cx="154966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2B2B1A-FB7F-F33F-41E0-17A19DD4249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656381" y="2807834"/>
            <a:ext cx="196" cy="5977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0633D6-8E13-8EEC-AC64-267EBC9576D5}"/>
              </a:ext>
            </a:extLst>
          </p:cNvPr>
          <p:cNvCxnSpPr>
            <a:cxnSpLocks/>
          </p:cNvCxnSpPr>
          <p:nvPr/>
        </p:nvCxnSpPr>
        <p:spPr>
          <a:xfrm>
            <a:off x="3207656" y="2653021"/>
            <a:ext cx="1" cy="752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5D06524-567C-034A-5C96-35EA838042EF}"/>
              </a:ext>
            </a:extLst>
          </p:cNvPr>
          <p:cNvCxnSpPr>
            <a:cxnSpLocks/>
          </p:cNvCxnSpPr>
          <p:nvPr/>
        </p:nvCxnSpPr>
        <p:spPr>
          <a:xfrm flipV="1">
            <a:off x="3244116" y="4040464"/>
            <a:ext cx="0" cy="3619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3BDC8B-A369-12B7-183E-CC71A704376A}"/>
              </a:ext>
            </a:extLst>
          </p:cNvPr>
          <p:cNvCxnSpPr>
            <a:cxnSpLocks/>
          </p:cNvCxnSpPr>
          <p:nvPr/>
        </p:nvCxnSpPr>
        <p:spPr>
          <a:xfrm flipH="1">
            <a:off x="7136603" y="5921162"/>
            <a:ext cx="7623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F59E2AD-F98A-BEFD-C98E-F3A09A5C0C58}"/>
              </a:ext>
            </a:extLst>
          </p:cNvPr>
          <p:cNvCxnSpPr>
            <a:cxnSpLocks/>
          </p:cNvCxnSpPr>
          <p:nvPr/>
        </p:nvCxnSpPr>
        <p:spPr>
          <a:xfrm flipV="1">
            <a:off x="6608754" y="2609570"/>
            <a:ext cx="0" cy="30974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979F8BCA-535B-7F9C-D58D-3A92F4ACC84D}"/>
              </a:ext>
            </a:extLst>
          </p:cNvPr>
          <p:cNvSpPr/>
          <p:nvPr/>
        </p:nvSpPr>
        <p:spPr>
          <a:xfrm>
            <a:off x="7875282" y="4544930"/>
            <a:ext cx="1609725" cy="4872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Pre-Processing</a:t>
            </a:r>
            <a:endParaRPr lang="en-IN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D110EFC-4240-9D72-FD00-ECF741F88BAA}"/>
              </a:ext>
            </a:extLst>
          </p:cNvPr>
          <p:cNvCxnSpPr>
            <a:cxnSpLocks/>
          </p:cNvCxnSpPr>
          <p:nvPr/>
        </p:nvCxnSpPr>
        <p:spPr>
          <a:xfrm>
            <a:off x="8680981" y="3889328"/>
            <a:ext cx="8861" cy="6556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6B708EA-CA33-8571-B7A9-9E25D6781497}"/>
              </a:ext>
            </a:extLst>
          </p:cNvPr>
          <p:cNvCxnSpPr>
            <a:cxnSpLocks/>
          </p:cNvCxnSpPr>
          <p:nvPr/>
        </p:nvCxnSpPr>
        <p:spPr>
          <a:xfrm>
            <a:off x="5978802" y="2609570"/>
            <a:ext cx="0" cy="13829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039121E0-7018-51AD-CE39-8DF904226364}"/>
              </a:ext>
            </a:extLst>
          </p:cNvPr>
          <p:cNvSpPr/>
          <p:nvPr/>
        </p:nvSpPr>
        <p:spPr>
          <a:xfrm>
            <a:off x="2474236" y="3411045"/>
            <a:ext cx="1513521" cy="558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Schedule</a:t>
            </a:r>
            <a:endParaRPr lang="en-IN" dirty="0"/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326A8FA-461A-65EC-DB52-3216D743921C}"/>
              </a:ext>
            </a:extLst>
          </p:cNvPr>
          <p:cNvCxnSpPr>
            <a:cxnSpLocks/>
          </p:cNvCxnSpPr>
          <p:nvPr/>
        </p:nvCxnSpPr>
        <p:spPr>
          <a:xfrm flipV="1">
            <a:off x="7106913" y="2580675"/>
            <a:ext cx="0" cy="22715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2A82CA63-87AC-7A6E-7BD2-C41FDF0176C6}"/>
              </a:ext>
            </a:extLst>
          </p:cNvPr>
          <p:cNvCxnSpPr>
            <a:cxnSpLocks/>
          </p:cNvCxnSpPr>
          <p:nvPr/>
        </p:nvCxnSpPr>
        <p:spPr>
          <a:xfrm>
            <a:off x="3244116" y="4402395"/>
            <a:ext cx="10773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D842885-39D7-05B6-DD32-D591A64247BB}"/>
              </a:ext>
            </a:extLst>
          </p:cNvPr>
          <p:cNvSpPr/>
          <p:nvPr/>
        </p:nvSpPr>
        <p:spPr>
          <a:xfrm>
            <a:off x="727228" y="5871143"/>
            <a:ext cx="1464239" cy="624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Admin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0973D-998F-A6DA-5820-A7F3E862CAF6}"/>
              </a:ext>
            </a:extLst>
          </p:cNvPr>
          <p:cNvSpPr/>
          <p:nvPr/>
        </p:nvSpPr>
        <p:spPr>
          <a:xfrm>
            <a:off x="631978" y="4309043"/>
            <a:ext cx="1464239" cy="6246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Add Doctor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01D9C4-A423-133C-5DC0-01073A5CD1A3}"/>
              </a:ext>
            </a:extLst>
          </p:cNvPr>
          <p:cNvCxnSpPr>
            <a:cxnSpLocks/>
          </p:cNvCxnSpPr>
          <p:nvPr/>
        </p:nvCxnSpPr>
        <p:spPr>
          <a:xfrm flipV="1">
            <a:off x="1367691" y="4954864"/>
            <a:ext cx="0" cy="89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E975C7C-D416-A18A-61F4-6646DCFBE207}"/>
              </a:ext>
            </a:extLst>
          </p:cNvPr>
          <p:cNvCxnSpPr>
            <a:cxnSpLocks/>
          </p:cNvCxnSpPr>
          <p:nvPr/>
        </p:nvCxnSpPr>
        <p:spPr>
          <a:xfrm>
            <a:off x="1586766" y="2344995"/>
            <a:ext cx="952500" cy="190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A7A280-47F7-2EBE-8899-1BD0C23FE2D1}"/>
              </a:ext>
            </a:extLst>
          </p:cNvPr>
          <p:cNvCxnSpPr>
            <a:cxnSpLocks/>
          </p:cNvCxnSpPr>
          <p:nvPr/>
        </p:nvCxnSpPr>
        <p:spPr>
          <a:xfrm flipH="1" flipV="1">
            <a:off x="1589026" y="2331904"/>
            <a:ext cx="2912" cy="1962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5C70BA-0A4F-61E2-C574-A7453820FE37}"/>
              </a:ext>
            </a:extLst>
          </p:cNvPr>
          <p:cNvCxnSpPr>
            <a:cxnSpLocks/>
          </p:cNvCxnSpPr>
          <p:nvPr/>
        </p:nvCxnSpPr>
        <p:spPr>
          <a:xfrm flipV="1">
            <a:off x="5160953" y="4705069"/>
            <a:ext cx="0" cy="159250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6C4FD7-7B61-2430-E0A6-4828333A4E26}"/>
              </a:ext>
            </a:extLst>
          </p:cNvPr>
          <p:cNvCxnSpPr>
            <a:cxnSpLocks/>
          </p:cNvCxnSpPr>
          <p:nvPr/>
        </p:nvCxnSpPr>
        <p:spPr>
          <a:xfrm>
            <a:off x="2230113" y="6246679"/>
            <a:ext cx="2930788" cy="95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 descr="A diagram of a program&#10;&#10;Description automatically generated">
            <a:extLst>
              <a:ext uri="{FF2B5EF4-FFF2-40B4-BE49-F238E27FC236}">
                <a16:creationId xmlns:a16="http://schemas.microsoft.com/office/drawing/2014/main" id="{2064515D-7ACD-D4C5-D075-761B1009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2" y="1786801"/>
            <a:ext cx="11081656" cy="47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5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B56210-913A-843E-2BE2-7634BC49D186}"/>
              </a:ext>
            </a:extLst>
          </p:cNvPr>
          <p:cNvSpPr/>
          <p:nvPr/>
        </p:nvSpPr>
        <p:spPr>
          <a:xfrm>
            <a:off x="4092814" y="2258004"/>
            <a:ext cx="3582955" cy="33496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87DE39-7923-C2BF-5E53-83E1F3F445E7}"/>
              </a:ext>
            </a:extLst>
          </p:cNvPr>
          <p:cNvSpPr/>
          <p:nvPr/>
        </p:nvSpPr>
        <p:spPr>
          <a:xfrm>
            <a:off x="297078" y="2258004"/>
            <a:ext cx="3582955" cy="33496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6D47BB-D047-B3C4-E6DB-0DC16CEE270F}"/>
              </a:ext>
            </a:extLst>
          </p:cNvPr>
          <p:cNvSpPr txBox="1"/>
          <p:nvPr/>
        </p:nvSpPr>
        <p:spPr>
          <a:xfrm>
            <a:off x="3106783" y="626555"/>
            <a:ext cx="649066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MODULE DESCRIPTION</a:t>
            </a:r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68E48-EC27-F897-AC32-17C20CB88310}"/>
              </a:ext>
            </a:extLst>
          </p:cNvPr>
          <p:cNvSpPr txBox="1"/>
          <p:nvPr/>
        </p:nvSpPr>
        <p:spPr>
          <a:xfrm>
            <a:off x="448462" y="1804889"/>
            <a:ext cx="5730240" cy="34527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ts val="3774"/>
              </a:lnSpc>
            </a:pPr>
            <a:endParaRPr lang="en-US" dirty="0">
              <a:solidFill>
                <a:schemeClr val="bg1"/>
              </a:solidFill>
            </a:endParaRPr>
          </a:p>
          <a:p>
            <a:pPr algn="just">
              <a:lnSpc>
                <a:spcPts val="3774"/>
              </a:lnSpc>
            </a:pPr>
            <a:r>
              <a:rPr lang="en-US" b="1" dirty="0">
                <a:solidFill>
                  <a:schemeClr val="bg1"/>
                </a:solidFill>
              </a:rPr>
              <a:t>User</a:t>
            </a:r>
          </a:p>
          <a:p>
            <a:pPr marL="342900" indent="-342900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Register/ Login </a:t>
            </a:r>
          </a:p>
          <a:p>
            <a:pPr marL="342900" indent="-342900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Choose and Consult </a:t>
            </a:r>
          </a:p>
          <a:p>
            <a:pPr>
              <a:lnSpc>
                <a:spcPts val="3774"/>
              </a:lnSpc>
            </a:pPr>
            <a:r>
              <a:rPr lang="en-US" dirty="0">
                <a:solidFill>
                  <a:schemeClr val="bg1"/>
                </a:solidFill>
              </a:rPr>
              <a:t>       Doctor</a:t>
            </a:r>
          </a:p>
          <a:p>
            <a:pPr marL="342900" indent="-342900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Consultation Payment </a:t>
            </a:r>
          </a:p>
          <a:p>
            <a:pPr marL="342900" indent="-342900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View Prescription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2D130-87F1-52F6-D51A-A489137F105D}"/>
              </a:ext>
            </a:extLst>
          </p:cNvPr>
          <p:cNvSpPr txBox="1"/>
          <p:nvPr/>
        </p:nvSpPr>
        <p:spPr>
          <a:xfrm>
            <a:off x="4218550" y="2255859"/>
            <a:ext cx="4286250" cy="34527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1" dirty="0">
                <a:solidFill>
                  <a:schemeClr val="bg1"/>
                </a:solidFill>
              </a:rPr>
              <a:t>Doctor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Login/Register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Schedule Consulting Time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View user details 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Upload Medical Image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View Prediction result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Prescribe Medicines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89F078-884F-462C-4D66-B138C92A0871}"/>
              </a:ext>
            </a:extLst>
          </p:cNvPr>
          <p:cNvSpPr/>
          <p:nvPr/>
        </p:nvSpPr>
        <p:spPr>
          <a:xfrm>
            <a:off x="8024112" y="2258004"/>
            <a:ext cx="3582955" cy="334969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947B7B-BF3F-4695-8E64-43E8C0DF2D6A}"/>
              </a:ext>
            </a:extLst>
          </p:cNvPr>
          <p:cNvSpPr txBox="1"/>
          <p:nvPr/>
        </p:nvSpPr>
        <p:spPr>
          <a:xfrm>
            <a:off x="8185032" y="2353831"/>
            <a:ext cx="4286250" cy="29654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ts val="3774"/>
              </a:lnSpc>
            </a:pPr>
            <a:r>
              <a:rPr lang="en-US" b="1" dirty="0">
                <a:solidFill>
                  <a:schemeClr val="bg1"/>
                </a:solidFill>
              </a:rPr>
              <a:t>Admin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Login/Register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Add Doctor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Client Support 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Security</a:t>
            </a:r>
          </a:p>
          <a:p>
            <a:pPr marL="342900" indent="-342900" algn="just">
              <a:lnSpc>
                <a:spcPts val="3774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cs typeface="Calibri"/>
              </a:rPr>
              <a:t>Obtain model result</a:t>
            </a:r>
          </a:p>
        </p:txBody>
      </p:sp>
    </p:spTree>
    <p:extLst>
      <p:ext uri="{BB962C8B-B14F-4D97-AF65-F5344CB8AC3E}">
        <p14:creationId xmlns:p14="http://schemas.microsoft.com/office/powerpoint/2010/main" val="810315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331C-AC46-038A-1784-5D28B940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286A-E9A8-34DD-6325-17C06C468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can see the prescription for the disease identified and confirmed by the doctor with Ai help and chat assistance is also made available</a:t>
            </a:r>
            <a:r>
              <a:rPr lang="en-GB" dirty="0"/>
              <a:t>.</a:t>
            </a:r>
          </a:p>
          <a:p>
            <a:r>
              <a:rPr lang="en-GB" dirty="0"/>
              <a:t>Appointments and payments can be done to the Doctors.</a:t>
            </a:r>
          </a:p>
          <a:p>
            <a:r>
              <a:rPr lang="en-GB" dirty="0"/>
              <a:t>Obtain useful tips for his/her health conditions.</a:t>
            </a:r>
          </a:p>
          <a:p>
            <a:r>
              <a:rPr lang="en-GB" dirty="0"/>
              <a:t>Implemented as an Android Application.</a:t>
            </a:r>
          </a:p>
        </p:txBody>
      </p:sp>
    </p:spTree>
    <p:extLst>
      <p:ext uri="{BB962C8B-B14F-4D97-AF65-F5344CB8AC3E}">
        <p14:creationId xmlns:p14="http://schemas.microsoft.com/office/powerpoint/2010/main" val="3034860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900E2-6681-1718-5B0D-6E325BF7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Doctor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DA956-2597-FB04-5C92-D8286D9A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Doctors can login into the system, preview medical images, and prescribe medications to the patients.</a:t>
            </a:r>
            <a:endParaRPr lang="en-GB" dirty="0"/>
          </a:p>
          <a:p>
            <a:r>
              <a:rPr lang="en-GB" dirty="0"/>
              <a:t>Chat functionality to chat with the patients about their medical conditions.</a:t>
            </a:r>
          </a:p>
          <a:p>
            <a:r>
              <a:rPr lang="en-GB" dirty="0"/>
              <a:t>Preview medical images and prescribe medications.</a:t>
            </a:r>
          </a:p>
          <a:p>
            <a:r>
              <a:rPr lang="en-GB" dirty="0"/>
              <a:t>Implemented as a Web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888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F325-43DE-D505-A2A0-44714445F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4BC5-B54E-7543-689C-7C273E7B1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Management and fine tuning of the machine learning model to fit the varied needs of the clients.</a:t>
            </a:r>
          </a:p>
          <a:p>
            <a:r>
              <a:rPr lang="en-GB" dirty="0"/>
              <a:t>Provide security for the clients’ data.</a:t>
            </a:r>
          </a:p>
          <a:p>
            <a:r>
              <a:rPr lang="en-GB" dirty="0"/>
              <a:t>Add or remove Doctors as necessary.</a:t>
            </a:r>
          </a:p>
          <a:p>
            <a:r>
              <a:rPr lang="en-GB" dirty="0"/>
              <a:t>Provide security and maintain the system from unauthorized access.</a:t>
            </a:r>
          </a:p>
          <a:p>
            <a:r>
              <a:rPr lang="en-GB" dirty="0"/>
              <a:t>Admin passes the images received from Doctor to the Model, and returns the results to the Doctor.</a:t>
            </a:r>
          </a:p>
          <a:p>
            <a:r>
              <a:rPr lang="en-GB" dirty="0"/>
              <a:t>Implemented as a Web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611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A801F825-3494-0D47-37CE-DB11C69CEBC5}"/>
              </a:ext>
            </a:extLst>
          </p:cNvPr>
          <p:cNvGrpSpPr/>
          <p:nvPr/>
        </p:nvGrpSpPr>
        <p:grpSpPr>
          <a:xfrm>
            <a:off x="5203131" y="939999"/>
            <a:ext cx="6270144" cy="3493549"/>
            <a:chOff x="6096000" y="1787658"/>
            <a:chExt cx="5691447" cy="3385629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D264264-6D98-81EF-17AC-385A418AC6A7}"/>
                </a:ext>
              </a:extLst>
            </p:cNvPr>
            <p:cNvGrpSpPr/>
            <p:nvPr/>
          </p:nvGrpSpPr>
          <p:grpSpPr>
            <a:xfrm>
              <a:off x="6096000" y="2269374"/>
              <a:ext cx="5691447" cy="2903913"/>
              <a:chOff x="6096000" y="2269374"/>
              <a:chExt cx="5691447" cy="2903913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67D2CDE-C098-0CE4-7CDB-CFADC811C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7876" y="2942705"/>
                <a:ext cx="487957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88B767A-8EA7-CB9A-B896-6C7D2625220A}"/>
                  </a:ext>
                </a:extLst>
              </p:cNvPr>
              <p:cNvSpPr/>
              <p:nvPr/>
            </p:nvSpPr>
            <p:spPr>
              <a:xfrm>
                <a:off x="6550429" y="2269375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2B6E1B2-47D0-EE5E-718F-258510A69C8C}"/>
                  </a:ext>
                </a:extLst>
              </p:cNvPr>
              <p:cNvSpPr/>
              <p:nvPr/>
            </p:nvSpPr>
            <p:spPr>
              <a:xfrm>
                <a:off x="7060276" y="2269375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BA2AFDA-2967-DF08-6D65-6FFCD82EF6AD}"/>
                  </a:ext>
                </a:extLst>
              </p:cNvPr>
              <p:cNvSpPr txBox="1"/>
              <p:nvPr/>
            </p:nvSpPr>
            <p:spPr>
              <a:xfrm rot="16200000">
                <a:off x="6254590" y="4032057"/>
                <a:ext cx="910226" cy="33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Convo</a:t>
                </a:r>
                <a:endParaRPr lang="en-IN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BF287D-AB3C-6816-1FA1-5B6BD41F3335}"/>
                  </a:ext>
                </a:extLst>
              </p:cNvPr>
              <p:cNvSpPr txBox="1"/>
              <p:nvPr/>
            </p:nvSpPr>
            <p:spPr>
              <a:xfrm rot="16200000">
                <a:off x="6529246" y="4276497"/>
                <a:ext cx="14076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Max Pooling</a:t>
                </a:r>
                <a:endParaRPr lang="en-IN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4F67A1C-B578-1BC9-A6D0-C8695958E350}"/>
                  </a:ext>
                </a:extLst>
              </p:cNvPr>
              <p:cNvSpPr/>
              <p:nvPr/>
            </p:nvSpPr>
            <p:spPr>
              <a:xfrm>
                <a:off x="7558237" y="2269375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B4D0693-582D-50D4-C868-58B74C4FBAEA}"/>
                  </a:ext>
                </a:extLst>
              </p:cNvPr>
              <p:cNvSpPr txBox="1"/>
              <p:nvPr/>
            </p:nvSpPr>
            <p:spPr>
              <a:xfrm rot="16200000">
                <a:off x="7222207" y="4063704"/>
                <a:ext cx="931324" cy="33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Convo</a:t>
                </a:r>
                <a:endParaRPr lang="en-IN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E3303A-A0ED-B858-5BFC-17C51D7FF34D}"/>
                  </a:ext>
                </a:extLst>
              </p:cNvPr>
              <p:cNvSpPr/>
              <p:nvPr/>
            </p:nvSpPr>
            <p:spPr>
              <a:xfrm>
                <a:off x="8056198" y="2269375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709EE-FFEB-F650-5D2C-0C245D79C08B}"/>
                  </a:ext>
                </a:extLst>
              </p:cNvPr>
              <p:cNvSpPr txBox="1"/>
              <p:nvPr/>
            </p:nvSpPr>
            <p:spPr>
              <a:xfrm rot="16200000">
                <a:off x="7525168" y="4284810"/>
                <a:ext cx="14076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Max Pooling</a:t>
                </a:r>
                <a:endParaRPr lang="en-IN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6953ACD-DF51-6748-49DF-FEFE4CF9B944}"/>
                  </a:ext>
                </a:extLst>
              </p:cNvPr>
              <p:cNvSpPr/>
              <p:nvPr/>
            </p:nvSpPr>
            <p:spPr>
              <a:xfrm>
                <a:off x="9049931" y="2269374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34456B9-9525-8BE6-F59E-174DEEE0FECD}"/>
                  </a:ext>
                </a:extLst>
              </p:cNvPr>
              <p:cNvSpPr txBox="1"/>
              <p:nvPr/>
            </p:nvSpPr>
            <p:spPr>
              <a:xfrm rot="16200000">
                <a:off x="8518901" y="4251557"/>
                <a:ext cx="14076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Max Pooling</a:t>
                </a:r>
                <a:endParaRPr lang="en-IN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EA73809-E6CC-E483-F3A1-46B044F59FC7}"/>
                  </a:ext>
                </a:extLst>
              </p:cNvPr>
              <p:cNvSpPr/>
              <p:nvPr/>
            </p:nvSpPr>
            <p:spPr>
              <a:xfrm>
                <a:off x="8540084" y="2269375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B0B7BC-E59D-DBD9-37ED-8545D556D685}"/>
                  </a:ext>
                </a:extLst>
              </p:cNvPr>
              <p:cNvSpPr txBox="1"/>
              <p:nvPr/>
            </p:nvSpPr>
            <p:spPr>
              <a:xfrm rot="16200000">
                <a:off x="8198779" y="4068979"/>
                <a:ext cx="941874" cy="33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Convo</a:t>
                </a:r>
                <a:endParaRPr lang="en-IN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6C7E2E-F493-1E84-C210-0053B035323C}"/>
                  </a:ext>
                </a:extLst>
              </p:cNvPr>
              <p:cNvSpPr/>
              <p:nvPr/>
            </p:nvSpPr>
            <p:spPr>
              <a:xfrm>
                <a:off x="9586102" y="2269374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8C6776-100A-E94F-A3B9-DFA99AC04351}"/>
                  </a:ext>
                </a:extLst>
              </p:cNvPr>
              <p:cNvSpPr/>
              <p:nvPr/>
            </p:nvSpPr>
            <p:spPr>
              <a:xfrm>
                <a:off x="10122273" y="2269374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277AD66-173C-C0B9-A6C7-B3B322EC86D5}"/>
                  </a:ext>
                </a:extLst>
              </p:cNvPr>
              <p:cNvSpPr/>
              <p:nvPr/>
            </p:nvSpPr>
            <p:spPr>
              <a:xfrm>
                <a:off x="10646624" y="2269374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AF99699-93CA-EDA9-AF9D-6828B12E1AAF}"/>
                  </a:ext>
                </a:extLst>
              </p:cNvPr>
              <p:cNvSpPr/>
              <p:nvPr/>
            </p:nvSpPr>
            <p:spPr>
              <a:xfrm>
                <a:off x="11175717" y="2269374"/>
                <a:ext cx="357447" cy="1496290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14737E-9E7B-ECB9-DB84-3F35A053B195}"/>
                  </a:ext>
                </a:extLst>
              </p:cNvPr>
              <p:cNvSpPr txBox="1"/>
              <p:nvPr/>
            </p:nvSpPr>
            <p:spPr>
              <a:xfrm rot="16200000">
                <a:off x="10936345" y="4079849"/>
                <a:ext cx="889126" cy="33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Dense</a:t>
                </a:r>
                <a:endParaRPr lang="en-IN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7CC5C0-34E5-FD35-C642-F16F4549DEEE}"/>
                  </a:ext>
                </a:extLst>
              </p:cNvPr>
              <p:cNvSpPr txBox="1"/>
              <p:nvPr/>
            </p:nvSpPr>
            <p:spPr>
              <a:xfrm rot="16200000">
                <a:off x="10286168" y="4083589"/>
                <a:ext cx="10664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Dropout</a:t>
                </a:r>
                <a:endParaRPr lang="en-IN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9FDC005-7D5C-3824-ED3A-C72AE1688C12}"/>
                  </a:ext>
                </a:extLst>
              </p:cNvPr>
              <p:cNvSpPr txBox="1"/>
              <p:nvPr/>
            </p:nvSpPr>
            <p:spPr>
              <a:xfrm rot="16200000">
                <a:off x="9184567" y="3884410"/>
                <a:ext cx="11637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Flatten</a:t>
                </a:r>
                <a:endParaRPr lang="en-I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6F2A24-C105-BA20-6E5E-35E812CC0B64}"/>
                  </a:ext>
                </a:extLst>
              </p:cNvPr>
              <p:cNvSpPr txBox="1"/>
              <p:nvPr/>
            </p:nvSpPr>
            <p:spPr>
              <a:xfrm rot="16200000">
                <a:off x="9808961" y="4127321"/>
                <a:ext cx="984072" cy="335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Dense</a:t>
                </a:r>
                <a:endParaRPr lang="en-IN" dirty="0"/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909EB980-BC08-C784-8365-D80598122F86}"/>
                  </a:ext>
                </a:extLst>
              </p:cNvPr>
              <p:cNvCxnSpPr/>
              <p:nvPr/>
            </p:nvCxnSpPr>
            <p:spPr>
              <a:xfrm>
                <a:off x="6096000" y="2942705"/>
                <a:ext cx="40433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6C7E668-130B-74C3-0601-34E0E47D72F5}"/>
                </a:ext>
              </a:extLst>
            </p:cNvPr>
            <p:cNvSpPr txBox="1"/>
            <p:nvPr/>
          </p:nvSpPr>
          <p:spPr>
            <a:xfrm>
              <a:off x="8097341" y="1787658"/>
              <a:ext cx="2250741" cy="36933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i="1" dirty="0"/>
                <a:t>Sequential Model</a:t>
              </a:r>
              <a:endParaRPr lang="en-IN" i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E1D72A5-DF6A-735A-DADB-F82B4737BC5E}"/>
              </a:ext>
            </a:extLst>
          </p:cNvPr>
          <p:cNvGrpSpPr/>
          <p:nvPr/>
        </p:nvGrpSpPr>
        <p:grpSpPr>
          <a:xfrm>
            <a:off x="1705457" y="949039"/>
            <a:ext cx="2689819" cy="1982951"/>
            <a:chOff x="968075" y="187439"/>
            <a:chExt cx="3169168" cy="218179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9D4CE4D-C8B2-9C27-AA1B-DCB4F399B5FB}"/>
                </a:ext>
              </a:extLst>
            </p:cNvPr>
            <p:cNvSpPr/>
            <p:nvPr/>
          </p:nvSpPr>
          <p:spPr>
            <a:xfrm>
              <a:off x="970649" y="187439"/>
              <a:ext cx="437867" cy="3544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6F08118-B64D-D41D-B08F-B83BDE4227BE}"/>
                </a:ext>
              </a:extLst>
            </p:cNvPr>
            <p:cNvSpPr txBox="1"/>
            <p:nvPr/>
          </p:nvSpPr>
          <p:spPr>
            <a:xfrm>
              <a:off x="1419175" y="625401"/>
              <a:ext cx="2689987" cy="3725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Benign Tumor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670E304-41AA-0D82-0433-540CD489E6B5}"/>
                </a:ext>
              </a:extLst>
            </p:cNvPr>
            <p:cNvSpPr txBox="1"/>
            <p:nvPr/>
          </p:nvSpPr>
          <p:spPr>
            <a:xfrm>
              <a:off x="1419176" y="237657"/>
              <a:ext cx="2689987" cy="3725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Bacterial Pneumonia</a:t>
              </a:r>
              <a:endParaRPr lang="en-IN" sz="16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2293550-FCE4-1980-1507-BBE1F741E2A6}"/>
                </a:ext>
              </a:extLst>
            </p:cNvPr>
            <p:cNvSpPr/>
            <p:nvPr/>
          </p:nvSpPr>
          <p:spPr>
            <a:xfrm>
              <a:off x="970648" y="638512"/>
              <a:ext cx="437867" cy="3544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D1702AA-BBEC-876A-E2F1-32D7A38917A5}"/>
                </a:ext>
              </a:extLst>
            </p:cNvPr>
            <p:cNvSpPr/>
            <p:nvPr/>
          </p:nvSpPr>
          <p:spPr>
            <a:xfrm>
              <a:off x="976661" y="1083875"/>
              <a:ext cx="437867" cy="3544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F5CA548-24D7-FDAE-78A9-A2AED625A150}"/>
                </a:ext>
              </a:extLst>
            </p:cNvPr>
            <p:cNvSpPr/>
            <p:nvPr/>
          </p:nvSpPr>
          <p:spPr>
            <a:xfrm>
              <a:off x="968075" y="1529217"/>
              <a:ext cx="437867" cy="3544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37755CC-F72F-7D66-991A-0C64C349609E}"/>
                </a:ext>
              </a:extLst>
            </p:cNvPr>
            <p:cNvSpPr/>
            <p:nvPr/>
          </p:nvSpPr>
          <p:spPr>
            <a:xfrm>
              <a:off x="968075" y="1991181"/>
              <a:ext cx="437867" cy="35445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23988EE-9C2D-2C4A-E8F0-50BF4C607786}"/>
                </a:ext>
              </a:extLst>
            </p:cNvPr>
            <p:cNvSpPr txBox="1"/>
            <p:nvPr/>
          </p:nvSpPr>
          <p:spPr>
            <a:xfrm>
              <a:off x="1419175" y="1074906"/>
              <a:ext cx="2689987" cy="3725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CoViD-19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04877EB-FFEF-2D96-0E17-F6CDF488DD89}"/>
                </a:ext>
              </a:extLst>
            </p:cNvPr>
            <p:cNvSpPr txBox="1"/>
            <p:nvPr/>
          </p:nvSpPr>
          <p:spPr>
            <a:xfrm>
              <a:off x="1447256" y="1537169"/>
              <a:ext cx="2689987" cy="3725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Malignant Tumor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4EB6EBE-D40D-57EF-9304-8F0852345F19}"/>
                </a:ext>
              </a:extLst>
            </p:cNvPr>
            <p:cNvSpPr txBox="1"/>
            <p:nvPr/>
          </p:nvSpPr>
          <p:spPr>
            <a:xfrm>
              <a:off x="1439681" y="1996728"/>
              <a:ext cx="2689987" cy="37250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1600" dirty="0"/>
                <a:t>Normal Lungs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7292DEC2-FE59-612C-AC15-25AAFBDA146C}"/>
              </a:ext>
            </a:extLst>
          </p:cNvPr>
          <p:cNvSpPr txBox="1"/>
          <p:nvPr/>
        </p:nvSpPr>
        <p:spPr>
          <a:xfrm>
            <a:off x="1970435" y="4460690"/>
            <a:ext cx="4031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Python Flask : </a:t>
            </a:r>
            <a:r>
              <a:rPr lang="en-IN" dirty="0"/>
              <a:t>Web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Java</a:t>
            </a:r>
            <a:r>
              <a:rPr lang="en-IN" dirty="0"/>
              <a:t> : Android App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WAMP </a:t>
            </a:r>
            <a:r>
              <a:rPr lang="en-IN" dirty="0"/>
              <a:t>: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</a:rPr>
              <a:t>Python TensorFlow </a:t>
            </a:r>
            <a:r>
              <a:rPr lang="en-IN" dirty="0"/>
              <a:t>:CNN Model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C65889-FEF3-5DDF-A098-B43E23F09AA1}"/>
              </a:ext>
            </a:extLst>
          </p:cNvPr>
          <p:cNvSpPr txBox="1"/>
          <p:nvPr/>
        </p:nvSpPr>
        <p:spPr>
          <a:xfrm>
            <a:off x="2234848" y="4256523"/>
            <a:ext cx="302930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i="1" dirty="0"/>
              <a:t>Module Implementation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30D40AD-C5D0-7A38-4526-AC4EC45BC828}"/>
              </a:ext>
            </a:extLst>
          </p:cNvPr>
          <p:cNvGrpSpPr/>
          <p:nvPr/>
        </p:nvGrpSpPr>
        <p:grpSpPr>
          <a:xfrm>
            <a:off x="6099133" y="4456541"/>
            <a:ext cx="5900488" cy="1961154"/>
            <a:chOff x="6194652" y="4460759"/>
            <a:chExt cx="5026967" cy="19514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0C573E7-3AAA-4B49-432F-6DBEC574AB4B}"/>
                </a:ext>
              </a:extLst>
            </p:cNvPr>
            <p:cNvSpPr txBox="1"/>
            <p:nvPr/>
          </p:nvSpPr>
          <p:spPr>
            <a:xfrm>
              <a:off x="6509974" y="4657887"/>
              <a:ext cx="4711645" cy="175432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Test Accuracy: 95</a:t>
              </a:r>
              <a:r>
                <a:rPr lang="en-US" dirty="0"/>
                <a:t>%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Loss Function</a:t>
              </a:r>
              <a:r>
                <a:rPr lang="en-US" dirty="0"/>
                <a:t>: Categorical Cross Entropy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Optimizer Algorithm </a:t>
              </a:r>
              <a:r>
                <a:rPr lang="en-US" dirty="0"/>
                <a:t>: Adam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Activation Functions: </a:t>
              </a:r>
              <a:r>
                <a:rPr lang="en-US" dirty="0"/>
                <a:t>ReLu, </a:t>
              </a:r>
              <a:r>
                <a:rPr lang="en-US" dirty="0" err="1"/>
                <a:t>Softmax</a:t>
              </a: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002060"/>
                  </a:solidFill>
                </a:rPr>
                <a:t>Preprocessing techniques</a:t>
              </a:r>
              <a:r>
                <a:rPr lang="en-US" dirty="0"/>
                <a:t>: Rescaling, Rotation, Zoom, Flip, Shear</a:t>
              </a:r>
              <a:endParaRPr lang="en-IN" dirty="0"/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C96C1DE-EB18-6032-2724-2AB8F7EB9F50}"/>
                </a:ext>
              </a:extLst>
            </p:cNvPr>
            <p:cNvCxnSpPr/>
            <p:nvPr/>
          </p:nvCxnSpPr>
          <p:spPr>
            <a:xfrm>
              <a:off x="6194652" y="4460759"/>
              <a:ext cx="0" cy="18818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A01FF39E-6688-CB10-52C4-59BB10638A87}"/>
              </a:ext>
            </a:extLst>
          </p:cNvPr>
          <p:cNvSpPr txBox="1"/>
          <p:nvPr/>
        </p:nvSpPr>
        <p:spPr>
          <a:xfrm rot="16200000">
            <a:off x="360909" y="2304586"/>
            <a:ext cx="182411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i="1" dirty="0"/>
              <a:t>Image</a:t>
            </a:r>
            <a:r>
              <a:rPr lang="en-US" sz="1600" i="1" dirty="0"/>
              <a:t> </a:t>
            </a:r>
            <a:r>
              <a:rPr lang="en-US" i="1" dirty="0"/>
              <a:t>Dataset</a:t>
            </a:r>
            <a:endParaRPr lang="en-IN" sz="1600" i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32011B-E84E-C85C-7DF0-D65DE8E81F35}"/>
              </a:ext>
            </a:extLst>
          </p:cNvPr>
          <p:cNvSpPr txBox="1"/>
          <p:nvPr/>
        </p:nvSpPr>
        <p:spPr>
          <a:xfrm>
            <a:off x="4060856" y="163407"/>
            <a:ext cx="45066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ea typeface="+mn-lt"/>
                <a:cs typeface="+mn-lt"/>
              </a:rPr>
              <a:t>IMPLEMENTATION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0F7F4-FD2B-BE38-9694-14607E336318}"/>
              </a:ext>
            </a:extLst>
          </p:cNvPr>
          <p:cNvSpPr/>
          <p:nvPr/>
        </p:nvSpPr>
        <p:spPr>
          <a:xfrm>
            <a:off x="1709829" y="3036504"/>
            <a:ext cx="339540" cy="3865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D1773-2B8B-464A-95A1-45308588765C}"/>
              </a:ext>
            </a:extLst>
          </p:cNvPr>
          <p:cNvSpPr txBox="1"/>
          <p:nvPr/>
        </p:nvSpPr>
        <p:spPr>
          <a:xfrm>
            <a:off x="2052752" y="3088203"/>
            <a:ext cx="26899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Tuberculosis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351441-1124-2251-307F-C96B1629C9F6}"/>
              </a:ext>
            </a:extLst>
          </p:cNvPr>
          <p:cNvSpPr/>
          <p:nvPr/>
        </p:nvSpPr>
        <p:spPr>
          <a:xfrm>
            <a:off x="1709829" y="3552697"/>
            <a:ext cx="339540" cy="3865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BF5F22-8A0B-EB9A-284F-90D412724BF0}"/>
              </a:ext>
            </a:extLst>
          </p:cNvPr>
          <p:cNvSpPr txBox="1"/>
          <p:nvPr/>
        </p:nvSpPr>
        <p:spPr>
          <a:xfrm>
            <a:off x="2052751" y="3604396"/>
            <a:ext cx="2689963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dirty="0"/>
              <a:t>Viral Pneumonia</a:t>
            </a:r>
          </a:p>
        </p:txBody>
      </p:sp>
    </p:spTree>
    <p:extLst>
      <p:ext uri="{BB962C8B-B14F-4D97-AF65-F5344CB8AC3E}">
        <p14:creationId xmlns:p14="http://schemas.microsoft.com/office/powerpoint/2010/main" val="3100814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ABCC9AF-6A29-1D98-0BE2-DD68E651D3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4959443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62B2DD-8012-3647-BEE3-245585013D11}"/>
              </a:ext>
            </a:extLst>
          </p:cNvPr>
          <p:cNvCxnSpPr>
            <a:cxnSpLocks/>
          </p:cNvCxnSpPr>
          <p:nvPr/>
        </p:nvCxnSpPr>
        <p:spPr>
          <a:xfrm flipH="1">
            <a:off x="10518658" y="447675"/>
            <a:ext cx="66675" cy="641032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367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A379E56-439E-0832-810B-D3EC0658141E}"/>
              </a:ext>
            </a:extLst>
          </p:cNvPr>
          <p:cNvSpPr txBox="1"/>
          <p:nvPr/>
        </p:nvSpPr>
        <p:spPr>
          <a:xfrm>
            <a:off x="-893684" y="-446139"/>
            <a:ext cx="14215956" cy="1427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</a:pPr>
            <a:r>
              <a:rPr lang="en-US" sz="3600" b="1" dirty="0">
                <a:solidFill>
                  <a:srgbClr val="002060"/>
                </a:solidFill>
              </a:rPr>
              <a:t>WORK ALLOCATION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73CE2F0-564F-68A3-B486-9F5A2518BFB3}"/>
              </a:ext>
            </a:extLst>
          </p:cNvPr>
          <p:cNvGraphicFramePr>
            <a:graphicFrameLocks noGrp="1"/>
          </p:cNvGraphicFramePr>
          <p:nvPr/>
        </p:nvGraphicFramePr>
        <p:xfrm>
          <a:off x="1278427" y="1198767"/>
          <a:ext cx="10161097" cy="521602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5525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5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54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307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Front End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Emmanuel Jose, Adarsh Jin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0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293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/>
                        <a:t>Module Building</a:t>
                      </a:r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Emmanuel Jose , Allan T Jose, Adarsh Jin, Arun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</a:rPr>
                        <a:t>Jibi</a:t>
                      </a:r>
                      <a:endParaRPr lang="en-US" sz="12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0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293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Model Building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Adarsh Jin, Arun </a:t>
                      </a:r>
                      <a:r>
                        <a:rPr lang="en-US" sz="2400" dirty="0" err="1">
                          <a:solidFill>
                            <a:srgbClr val="000000"/>
                          </a:solidFill>
                        </a:rPr>
                        <a:t>Jibi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0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293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Model Training and Integration</a:t>
                      </a:r>
                      <a:endParaRPr lang="en-US" sz="1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</a:rPr>
                        <a:t>Adarsh Jin, Allan T Jose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03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ts val="293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Model Testing</a:t>
                      </a:r>
                      <a:endParaRPr lang="en-US" sz="28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400" dirty="0"/>
                        <a:t>Arun </a:t>
                      </a:r>
                      <a:r>
                        <a:rPr lang="en-US" sz="2400" dirty="0" err="1"/>
                        <a:t>Jibi</a:t>
                      </a:r>
                      <a:r>
                        <a:rPr lang="en-US" sz="2400" dirty="0"/>
                        <a:t> , Emmanuel Jose</a:t>
                      </a:r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111175"/>
                  </a:ext>
                </a:extLst>
              </a:tr>
              <a:tr h="888043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auto" latinLnBrk="0" hangingPunct="1">
                        <a:lnSpc>
                          <a:spcPts val="29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</a:rPr>
                        <a:t>Database Management</a:t>
                      </a:r>
                      <a:endParaRPr lang="en-US" sz="1600" dirty="0"/>
                    </a:p>
                    <a:p>
                      <a:pPr marL="171450" indent="-171450" algn="l">
                        <a:lnSpc>
                          <a:spcPts val="2939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dirty="0"/>
                        <a:t>Allan T Jose, Arun </a:t>
                      </a:r>
                      <a:r>
                        <a:rPr lang="en-US" sz="2400" dirty="0" err="1"/>
                        <a:t>Jibi</a:t>
                      </a:r>
                      <a:endParaRPr lang="en-US" sz="2400" dirty="0"/>
                    </a:p>
                  </a:txBody>
                  <a:tcPr marL="190500" marR="190500" marT="190500" marB="190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188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889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2F3A0-DBE6-1052-5D65-1D451D2BC215}"/>
              </a:ext>
            </a:extLst>
          </p:cNvPr>
          <p:cNvSpPr txBox="1"/>
          <p:nvPr/>
        </p:nvSpPr>
        <p:spPr>
          <a:xfrm>
            <a:off x="4675372" y="286310"/>
            <a:ext cx="45066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solidFill>
                  <a:srgbClr val="002060"/>
                </a:solidFill>
                <a:ea typeface="+mn-lt"/>
                <a:cs typeface="+mn-lt"/>
              </a:rPr>
              <a:t>DEMO</a:t>
            </a:r>
            <a:endParaRPr lang="en-US" dirty="0"/>
          </a:p>
        </p:txBody>
      </p:sp>
      <p:pic>
        <p:nvPicPr>
          <p:cNvPr id="4" name="Picture 3" descr="A hand in gloves holding a petri dish&#10;&#10;Description automatically generated">
            <a:extLst>
              <a:ext uri="{FF2B5EF4-FFF2-40B4-BE49-F238E27FC236}">
                <a16:creationId xmlns:a16="http://schemas.microsoft.com/office/drawing/2014/main" id="{EB4B8D54-1306-78EB-2AB3-51C6FFC3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3" y="1716114"/>
            <a:ext cx="5702710" cy="3253709"/>
          </a:xfrm>
          <a:prstGeom prst="rect">
            <a:avLst/>
          </a:prstGeom>
        </p:spPr>
      </p:pic>
      <p:pic>
        <p:nvPicPr>
          <p:cNvPr id="5" name="Picture 4" descr="A screenshot of a medical appointment&#10;&#10;Description automatically generated">
            <a:extLst>
              <a:ext uri="{FF2B5EF4-FFF2-40B4-BE49-F238E27FC236}">
                <a16:creationId xmlns:a16="http://schemas.microsoft.com/office/drawing/2014/main" id="{695D15FD-5DBA-4679-4483-B5EA9F43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387" y="1714193"/>
            <a:ext cx="6096000" cy="3257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A68EB3-3F56-982A-BEE7-BE52207C9419}"/>
              </a:ext>
            </a:extLst>
          </p:cNvPr>
          <p:cNvSpPr txBox="1"/>
          <p:nvPr/>
        </p:nvSpPr>
        <p:spPr>
          <a:xfrm>
            <a:off x="952500" y="5438467"/>
            <a:ext cx="3578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Fig: Web Application Home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06675-098F-3758-FCB6-7BE2880CED2C}"/>
              </a:ext>
            </a:extLst>
          </p:cNvPr>
          <p:cNvSpPr txBox="1"/>
          <p:nvPr/>
        </p:nvSpPr>
        <p:spPr>
          <a:xfrm>
            <a:off x="7134531" y="5438466"/>
            <a:ext cx="437781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Fig: Appointment view in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762364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8583797-B68A-E968-08C0-50D4A06B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19" y="1845469"/>
            <a:ext cx="6096000" cy="3167062"/>
          </a:xfrm>
          <a:prstGeom prst="rect">
            <a:avLst/>
          </a:prstGeom>
        </p:spPr>
      </p:pic>
      <p:pic>
        <p:nvPicPr>
          <p:cNvPr id="3" name="Picture 2" descr="A screenshot of a medical service&#10;&#10;Description automatically generated">
            <a:extLst>
              <a:ext uri="{FF2B5EF4-FFF2-40B4-BE49-F238E27FC236}">
                <a16:creationId xmlns:a16="http://schemas.microsoft.com/office/drawing/2014/main" id="{19F555F0-9C4E-AB88-C283-FEADE5BC8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3552" y="916858"/>
            <a:ext cx="2061217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5DCB6-68E5-6964-2DE7-B58BC3E1AA17}"/>
              </a:ext>
            </a:extLst>
          </p:cNvPr>
          <p:cNvSpPr txBox="1"/>
          <p:nvPr/>
        </p:nvSpPr>
        <p:spPr>
          <a:xfrm>
            <a:off x="1616178" y="5426177"/>
            <a:ext cx="3578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Fig: AI Model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3AFD57-9CD8-E704-F7DE-EB575421C2E4}"/>
              </a:ext>
            </a:extLst>
          </p:cNvPr>
          <p:cNvSpPr txBox="1"/>
          <p:nvPr/>
        </p:nvSpPr>
        <p:spPr>
          <a:xfrm>
            <a:off x="7785919" y="5426177"/>
            <a:ext cx="38616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Fig: Android Application Home Page</a:t>
            </a:r>
          </a:p>
        </p:txBody>
      </p:sp>
    </p:spTree>
    <p:extLst>
      <p:ext uri="{BB962C8B-B14F-4D97-AF65-F5344CB8AC3E}">
        <p14:creationId xmlns:p14="http://schemas.microsoft.com/office/powerpoint/2010/main" val="3454142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68657-FA05-A726-0E63-9F04EC4D13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-1120599" y="1120601"/>
            <a:ext cx="4758612" cy="25174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4EFD30-EE95-C21B-B930-B1F48EC17831}"/>
              </a:ext>
            </a:extLst>
          </p:cNvPr>
          <p:cNvSpPr txBox="1"/>
          <p:nvPr/>
        </p:nvSpPr>
        <p:spPr>
          <a:xfrm>
            <a:off x="4416968" y="1233443"/>
            <a:ext cx="9899121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4000" b="1" dirty="0">
                <a:solidFill>
                  <a:srgbClr val="002060"/>
                </a:solidFill>
                <a:cs typeface="Calibri Light"/>
              </a:rPr>
              <a:t>CONCLUSION</a:t>
            </a:r>
            <a:endParaRPr lang="en-IN" sz="1600" b="1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7644D-8059-331A-E8C7-D7F750EE0410}"/>
              </a:ext>
            </a:extLst>
          </p:cNvPr>
          <p:cNvSpPr txBox="1"/>
          <p:nvPr/>
        </p:nvSpPr>
        <p:spPr>
          <a:xfrm>
            <a:off x="1443873" y="2440067"/>
            <a:ext cx="9706210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>
                <a:cs typeface="Calibri"/>
              </a:rPr>
              <a:t>Meticulously incorporated advanced image preprocessing, feature extraction, and deep learning techniques to elevate the accuracy of lung disease predictions.</a:t>
            </a:r>
            <a:endParaRPr lang="en-US" dirty="0"/>
          </a:p>
          <a:p>
            <a:pPr algn="just"/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>
                <a:cs typeface="Calibri"/>
              </a:rPr>
              <a:t>The deployment of deep neural networks resulted in notably improved precision in identifying lung diseases and accurately forecasting disease conditions.</a:t>
            </a:r>
            <a:endParaRPr lang="en-US" dirty="0"/>
          </a:p>
          <a:p>
            <a:pPr algn="just"/>
            <a:r>
              <a:rPr lang="en-US" sz="2400" dirty="0">
                <a:latin typeface="Arial"/>
                <a:cs typeface="Arial"/>
              </a:rPr>
              <a:t>•</a:t>
            </a:r>
            <a:r>
              <a:rPr lang="en-US" sz="2400" dirty="0">
                <a:cs typeface="Calibri"/>
              </a:rPr>
              <a:t>This research underscores the transformative potential of AI in effectively distinguishing and classifying a relatively less common diseases.</a:t>
            </a:r>
            <a:endParaRPr lang="en-US" dirty="0"/>
          </a:p>
          <a:p>
            <a:pPr algn="just"/>
            <a:endParaRPr lang="en-US" sz="2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2264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7B934C-8B1F-990A-A56A-4806C378A7FE}"/>
              </a:ext>
            </a:extLst>
          </p:cNvPr>
          <p:cNvSpPr txBox="1"/>
          <p:nvPr/>
        </p:nvSpPr>
        <p:spPr>
          <a:xfrm>
            <a:off x="4190617" y="228499"/>
            <a:ext cx="4875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REFERENCES</a:t>
            </a:r>
            <a:endParaRPr lang="en-IN" sz="40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F758A-B4DB-037F-91E6-7478486BAEEF}"/>
              </a:ext>
            </a:extLst>
          </p:cNvPr>
          <p:cNvSpPr txBox="1"/>
          <p:nvPr/>
        </p:nvSpPr>
        <p:spPr>
          <a:xfrm>
            <a:off x="595604" y="935113"/>
            <a:ext cx="1116096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[1] </a:t>
            </a:r>
            <a:r>
              <a:rPr lang="en-IN" dirty="0" err="1"/>
              <a:t>YutongXie</a:t>
            </a:r>
            <a:r>
              <a:rPr lang="en-IN" dirty="0"/>
              <a:t>,, “Knowledge-based Collaborative Deep Learning for Benign Malignant Lung Nodule Classification on Chest CT” ,2018, IEEE . </a:t>
            </a:r>
          </a:p>
          <a:p>
            <a:endParaRPr lang="en-IN" dirty="0"/>
          </a:p>
          <a:p>
            <a:r>
              <a:rPr lang="en-IN" dirty="0"/>
              <a:t>[2] Vijayakumar, T. "Classification of Brain Cancer Type using Machine Learning." Journal of Artificial Intelligence 1, no. 02 (2019): 105-113. </a:t>
            </a:r>
          </a:p>
          <a:p>
            <a:endParaRPr lang="en-IN" dirty="0"/>
          </a:p>
          <a:p>
            <a:r>
              <a:rPr lang="en-IN" dirty="0"/>
              <a:t>[3] </a:t>
            </a:r>
            <a:r>
              <a:rPr lang="en-IN" dirty="0" err="1"/>
              <a:t>LilikAnifah</a:t>
            </a:r>
            <a:r>
              <a:rPr lang="en-IN" dirty="0"/>
              <a:t>, Haryanto, </a:t>
            </a:r>
            <a:r>
              <a:rPr lang="en-IN" dirty="0" err="1"/>
              <a:t>RinaHarimurti</a:t>
            </a:r>
            <a:r>
              <a:rPr lang="en-IN" dirty="0"/>
              <a:t>, “Cancer lung detection on CT Scan image using ANN backpropagation based </a:t>
            </a:r>
            <a:r>
              <a:rPr lang="en-IN" dirty="0" err="1"/>
              <a:t>gray</a:t>
            </a:r>
            <a:r>
              <a:rPr lang="en-IN" dirty="0"/>
              <a:t> level co occurrence matrix feature.” 978-1-5386-3172-0/17/ 2017 IEEE .</a:t>
            </a:r>
          </a:p>
          <a:p>
            <a:endParaRPr lang="en-IN" dirty="0"/>
          </a:p>
          <a:p>
            <a:r>
              <a:rPr lang="en-IN" dirty="0"/>
              <a:t>[4] Prof. Anuradha Deshpande, Dhanesh </a:t>
            </a:r>
            <a:r>
              <a:rPr lang="en-IN" dirty="0" err="1"/>
              <a:t>Lokhande</a:t>
            </a:r>
            <a:r>
              <a:rPr lang="en-IN" dirty="0"/>
              <a:t>, “Lung cancer detection with fusion of CT and MRI image using image processing.” (IJARCET) Volume 4 Issue 3, March 2015 .</a:t>
            </a:r>
          </a:p>
          <a:p>
            <a:endParaRPr lang="en-IN" dirty="0"/>
          </a:p>
          <a:p>
            <a:r>
              <a:rPr lang="en-IN" dirty="0"/>
              <a:t> [5] </a:t>
            </a:r>
            <a:r>
              <a:rPr lang="en-IN" dirty="0" err="1"/>
              <a:t>RachidSammouda</a:t>
            </a:r>
            <a:r>
              <a:rPr lang="en-IN" dirty="0"/>
              <a:t>, “Segmentation and analysis of CT chest images for early lung cancer detection.” Global Summit on Computer &amp; Information Technology 978-1-5090-2659-3/17 2017 IEEE.</a:t>
            </a:r>
          </a:p>
          <a:p>
            <a:endParaRPr lang="en-IN" dirty="0"/>
          </a:p>
          <a:p>
            <a:r>
              <a:rPr lang="en-IN" dirty="0"/>
              <a:t> [6] Abbas </a:t>
            </a:r>
            <a:r>
              <a:rPr lang="en-IN" dirty="0" err="1"/>
              <a:t>Khosravi</a:t>
            </a:r>
            <a:r>
              <a:rPr lang="en-IN" dirty="0"/>
              <a:t>, Amin Khatami, “Lung cancer classification using deep learned features on low population dataset.” Canadian Conference on Electrical and Computer Engineering (CCECE) 978-1-5090-5538- 8/17 2017 IEEE . </a:t>
            </a:r>
          </a:p>
          <a:p>
            <a:endParaRPr lang="en-IN" dirty="0"/>
          </a:p>
          <a:p>
            <a:r>
              <a:rPr lang="en-IN" dirty="0"/>
              <a:t>[7] https://en.wikipedia.org. </a:t>
            </a:r>
          </a:p>
          <a:p>
            <a:r>
              <a:rPr lang="en-IN" dirty="0"/>
              <a:t>[8] https:// www.icmr.nic.in</a:t>
            </a:r>
          </a:p>
        </p:txBody>
      </p:sp>
    </p:spTree>
    <p:extLst>
      <p:ext uri="{BB962C8B-B14F-4D97-AF65-F5344CB8AC3E}">
        <p14:creationId xmlns:p14="http://schemas.microsoft.com/office/powerpoint/2010/main" val="2942828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527F0D-E82E-606B-7265-AEE47A842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0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1285</Words>
  <Application>Microsoft Office PowerPoint</Application>
  <PresentationFormat>Widescreen</PresentationFormat>
  <Paragraphs>237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Calibri Light</vt:lpstr>
      <vt:lpstr>office theme</vt:lpstr>
      <vt:lpstr>LUNG CARE AI</vt:lpstr>
      <vt:lpstr>CONTENTS</vt:lpstr>
      <vt:lpstr>CONTENTS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User Module</vt:lpstr>
      <vt:lpstr>Doctor Module</vt:lpstr>
      <vt:lpstr>Admin Module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 Pavilion</cp:lastModifiedBy>
  <cp:revision>308</cp:revision>
  <dcterms:created xsi:type="dcterms:W3CDTF">2024-03-21T01:44:57Z</dcterms:created>
  <dcterms:modified xsi:type="dcterms:W3CDTF">2024-04-24T03:49:11Z</dcterms:modified>
</cp:coreProperties>
</file>